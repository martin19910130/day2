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58" r:id="rId4"/>
    <p:sldId id="259" r:id="rId5"/>
    <p:sldId id="284" r:id="rId6"/>
    <p:sldId id="269" r:id="rId7"/>
    <p:sldId id="270" r:id="rId8"/>
    <p:sldId id="271" r:id="rId9"/>
    <p:sldId id="273" r:id="rId10"/>
    <p:sldId id="289" r:id="rId11"/>
    <p:sldId id="274" r:id="rId12"/>
    <p:sldId id="261" r:id="rId13"/>
    <p:sldId id="287" r:id="rId14"/>
    <p:sldId id="297" r:id="rId15"/>
    <p:sldId id="290" r:id="rId16"/>
    <p:sldId id="291" r:id="rId17"/>
    <p:sldId id="292" r:id="rId18"/>
    <p:sldId id="293" r:id="rId19"/>
    <p:sldId id="295" r:id="rId20"/>
    <p:sldId id="307" r:id="rId21"/>
    <p:sldId id="294" r:id="rId22"/>
    <p:sldId id="314" r:id="rId23"/>
    <p:sldId id="265" r:id="rId24"/>
    <p:sldId id="282" r:id="rId25"/>
    <p:sldId id="280" r:id="rId2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30"/>
  </p:normalViewPr>
  <p:slideViewPr>
    <p:cSldViewPr>
      <p:cViewPr varScale="1">
        <p:scale>
          <a:sx n="92" d="100"/>
          <a:sy n="92" d="100"/>
        </p:scale>
        <p:origin x="166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A03D2C1B-3B31-1F4E-BC9E-457767E151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ACF0A58D-5F4A-9546-8C31-296CA8D92BC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2" name="Rectangle 4">
            <a:extLst>
              <a:ext uri="{FF2B5EF4-FFF2-40B4-BE49-F238E27FC236}">
                <a16:creationId xmlns:a16="http://schemas.microsoft.com/office/drawing/2014/main" id="{BC84BB7D-1A29-9D4E-ABB4-4680008A28D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3" name="Rectangle 5">
            <a:extLst>
              <a:ext uri="{FF2B5EF4-FFF2-40B4-BE49-F238E27FC236}">
                <a16:creationId xmlns:a16="http://schemas.microsoft.com/office/drawing/2014/main" id="{C431241C-CFAD-284A-A0B9-13F856DEFDC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897C8382-0786-0E41-9C32-DD4785192BA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B09C9DC1-1B2A-514E-A0C2-899CC0F7ADA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AFDEAFB-7DD1-7549-B63C-23AD10818E5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97DB9F04-E69C-A640-9413-73AA2983DAA6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CD705E5B-8AAC-FE47-8EA2-0DB9E4D5013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966" name="Rectangle 6">
            <a:extLst>
              <a:ext uri="{FF2B5EF4-FFF2-40B4-BE49-F238E27FC236}">
                <a16:creationId xmlns:a16="http://schemas.microsoft.com/office/drawing/2014/main" id="{81C63AFD-536A-8849-BC73-FD5A48B40F5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6168CADA-4506-B34B-B2E5-5FD55F3629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8DC81FD-9CC1-7C4C-B24A-CE9F0FAB6A6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220DFA2D-5F8A-514A-8E6A-26DF981EEA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8D6DC3D-14E1-E241-B45E-A66C0A88B3DF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E11EA23D-60DF-7245-8348-4EFACF52F89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23BE64E4-7CBB-CB46-95FF-BC4379C2F6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01A20575-29A5-934E-99A7-CFAD605652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AB33003-B2FC-5D44-A4C2-AEA78B47A870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C1F038AE-B082-394F-BF58-FBB31DB2D49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A7E0BE9-9D93-7049-9C7E-6B2EB5D14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74FB94BF-07C5-BF46-9B98-B3AC302F4E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CAB462C-450C-804E-AC26-727DD70F6AB5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246D2C59-4F30-514B-BF2D-23FF307D21B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741C0F52-ED18-F640-9A97-2B052B8267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30CF3B42-7B41-4943-B604-F93EB1CF0C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41D56FC-85E1-E04F-97EC-2FD0386FBE4B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4EF22C2F-A929-B243-B708-129CC70D4BF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FDE1AB9-D51F-8D44-A132-0EF3B73CD8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9EF208F9-A7ED-244F-927C-759A7D3843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E9933E2-1DF7-8144-90F5-3BE5D7A03CE5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76E3F99D-71B8-4C4B-847D-0222BDD9CFF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B0B3FB3-8340-6741-B4BF-D0A409327B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4C9A1C94-CD29-C540-A289-32687F1635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3542FF4-B02B-BF4C-8649-D6CE1A324FB6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53E65498-EE2F-6944-95D1-931ED71E5E7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C66051CB-3175-9547-91D0-A6C58CBCE8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5757A5DD-0786-FB47-AD8B-8D79CDC65B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06FAA2B-F166-1C4E-931F-AF1FEBB1C21B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86852BBD-2951-8547-A6EC-62B46F64188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9CBB206E-AE13-C44B-8634-709CD1E594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16F3CF5B-6E5A-CF49-B935-34F71EEA6E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F724F3D-FC26-6541-958B-D38CF308063B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5B04FF4F-DB69-A647-93EB-43F3C8EF233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79F9C59-06CF-6941-8B66-F12D6875FE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6E690863-8845-FA48-8E4D-006F210FF9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839F397-B640-6A4A-8966-64BD7EA040D9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02B243E1-1516-D94A-A25A-DC8A8BEECF9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67B4091A-CD9C-3D43-B56D-6203CCB1B9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63CA88EA-7A9D-0947-98DE-8ABB259A78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00C322F-9F5B-774A-A87E-3B322E4AA114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2AC62D76-AB6E-314D-841E-A49CDA33250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57D452B-F32B-5843-B60D-8FA024176E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4748C881-A50C-E84A-A513-AF0D27DB72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049A799-5968-4A40-8313-C21C91C2710A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4BFEC2E3-680B-FF40-B9DF-34191BA5997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3FD0B03C-DC69-C04F-852A-0094E99A14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914105BB-1E98-7648-9CCA-CAA7867057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0034E70-AA4C-CD41-802B-AC225761D1B1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90A0D852-6D99-8C45-8144-2DA088670FF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55857DD4-1888-B048-B4E8-A688F1644A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FB69E30B-A26C-E641-AA53-4A610F5675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F5483FD-7054-1F46-9A66-33FAE7B097F7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5883A540-F915-2547-B328-6318C2A4436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F5CC8FB7-3BDB-5944-847B-C8C8B8F50D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C8FCA806-FF56-B44A-930C-5C59F45E70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F4079F3-6165-6942-9034-DC3E50973389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2EDAB4FA-990B-1447-88C5-133BBD6B5A2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49A65FCD-B3C5-C547-A0E6-46B4F34D8C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9440390A-A2BB-5346-9BAF-16C33B28AA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C027229-66B9-CE4B-B1FE-89088F205EAD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92B0DABB-AA2F-1C41-AC04-708827427A6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58BAFCF7-C09D-804A-BD03-6A12C42489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CE0ED9A5-D47F-6C4B-AB14-61438E2187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334340D-C747-AF42-83BE-4515763211CE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20BE2CF2-FA97-8D43-B7E7-FCEDA8867A5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8F410DB-CCD5-0D4D-A3CD-27D5593C5A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0E443073-55FB-3B4D-BFAB-9CD6510A91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B3A75A5-874C-4D42-8AEF-EA455F9DCC76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C8771337-CB42-0A4D-8C57-72989B3295F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1BD5C6C5-625E-DD41-9301-D70786E593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6698F0B1-9CA0-684F-9886-97A9DC45E3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8A898FD-EBB8-8F44-B985-E988BBB2C637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C559B586-5A14-0C4B-B4D4-E392AFA1D08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17DF7006-90FD-5448-AF1C-ADFBDCEC6A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66FD926F-4DE3-C04A-9473-7559A58B43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1E9F5BC-2A9F-6C4E-9EF2-44C7EF8AFCBE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D72905D9-7EA7-554A-9EBF-D9FD9B3F319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C4D77762-1FA6-B54A-B2D2-61FF5249AF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09321B20-CE37-E84E-AA1F-BB95D3094B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10F770F-702E-0C4D-947F-BD393FA5D97B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B85EB353-81F2-9F4E-90DB-23BDA027DF3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0A8D51B3-53CD-D74A-8B49-A0F32EE196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C0CE972F-1B4C-8049-B5E8-A7311AD737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3FC02DC-A35E-E140-A433-F9A25D2FBDCF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693F6C87-E51F-1046-B6E5-B30D654E63D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5CDE9C3F-DF0A-ED48-8245-71FE48EBFC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05E11427-4685-D44C-BDE4-7EC0C0DFFD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778CDB7-AF2C-7244-9152-4188CE98ECCA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54AEE813-13E5-8D4A-8987-E757B818366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EB64A646-81FE-A44B-9D2D-3E63BFC795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3612E9D8-9BB4-2341-B53E-D8933410FC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F0EA47F-63BD-CA49-80F6-530121FA605A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595B4261-1BA2-964E-9B0E-6019145D694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2698DEB4-8CCF-D941-9CA7-40B52C9F01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B2C03743-981D-B24C-95DA-C215A8BEDE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02A032F-FD28-E541-AF4A-73EFBCB76109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2FED0DF5-C6BF-E941-9DF8-87B61C37F4B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BA45323D-A03E-1246-865F-37ADDFA88B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87DBC05F-F75A-2144-92E0-B559900927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C9185A1-B0FE-7047-97D7-8FBA4A375D63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8C21EF55-43CF-654F-8AB8-80F5C048500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DAB450B5-7003-BC4A-A1D6-569EC24BA0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9818DD-6ED0-B649-9168-9DB20CB8FC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994B70B-8D3B-DC4A-A2C5-DACC690598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57E2B2-5C6A-8048-9188-6FF8DF7A95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7147BE-8081-D340-B375-ADEDABF151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6089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B8DF32C-701A-C541-95F1-3F5C3AD7F9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8CAAE5-40A8-E246-A77F-59FA76F982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20C3105-9C36-BF4E-8C7E-F7D9ACE837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8882D7-DC34-EC48-9A4A-8D0DBEE8A3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1480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21C2943-AF58-604C-BEF5-89206907F8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5E976AF-FCFA-2446-90D4-5A1CD09838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77E476-F326-6B46-A5C5-C864547131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E7C86E-C8A4-5E43-AE65-E5C0EA913B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0322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300CFC-06D6-8048-9ECF-3BA7ED65E1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0A659-8104-AD43-9AFC-3BB403DA71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C1C2A0-61CB-FD42-A789-BECDA66287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CC8580-C51A-534F-B05E-940CCC8C46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0485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7A66509-67BA-B940-A144-3D6791B514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FBCDD01-85BD-E442-94CA-232D6113FE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D2E05CB-C7C4-BA42-8BBB-11F7DF5B7E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994E2A-B7D3-1641-81E2-EB899A3AB5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5724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F6B1BFC-6EBA-5748-9659-D1020EB5AB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66EA798-EB28-1641-BC78-6BACAE7BF1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E00E298-8336-3E44-B8C4-12DFFE4B4F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875EA3-5161-C043-AF34-EE0BFBF5EC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8246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07D16E0-D045-B84C-9921-F3CCDE1436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E45B724-F8E6-0F4C-BA63-07C0304772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359129A-DE75-1B4F-B27B-7F4BD69831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95BDF0-0D28-C44F-9643-15ABB9A087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4029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EC746A-C230-9241-BE79-BB1E6B3DCF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234666-D4B9-CB46-B004-E337D0E8FB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B1AC63-E86D-BF4B-904F-C231CE42DE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2CDB75-F143-2543-BDA9-30D3128AFD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8716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7DB8E2-0325-8E49-B466-9626624644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39850-21F1-414F-9BEA-42EBC69EA3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B0CE03-99EE-E740-8295-B742B8A0CA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0353CA-5264-3245-A32B-96ECB3983B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913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34FC4E-842A-934F-AB96-F1E443AE72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58AB9BD-E383-DB42-865B-E830B0EC54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15159C-8C85-B446-82D2-0EB5ECA072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B6FEC2-A454-C541-9937-84BF867EEC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2704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E0EFCC-D234-5E48-A5FD-FFDCDFDA2A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CD6D70C-3749-4046-BFAA-0C4F69C6DB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FFEAED4-BC74-354C-B105-F2EBBCCDD2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0F1DDC-97A3-FE47-8E4F-D17F8EAF7F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98774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F0836A5-4265-3B48-9052-E162D804CB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9EAE6A8-9050-B446-9BDF-A24AA6B7A9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BF03119-8FA6-0C4A-B7FA-77E6EA748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5236A9-70F3-9C43-9015-15F2610963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5277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2205128-8850-C14C-A184-A1076E041A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D5283BC-F873-6841-840D-CBF523C85B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4BC8831-2E62-284C-A1EF-6E39332867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B59E8B-A736-9742-9128-4EF2D3FE130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2156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6C2D70F-6F3D-474D-BF1E-32A13B9212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B1B880A-7E70-CF4B-8ADF-31B7B2323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2E4328B-8F7B-F24D-A5F9-52C1E56FF21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1171A88-423D-5043-A668-FDAE9DF91B6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DB6A074-D26F-7047-BE3E-6D4FDB1686D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C218104E-8EAF-F342-AB9C-2DB03B1F57A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 Box 4">
            <a:extLst>
              <a:ext uri="{FF2B5EF4-FFF2-40B4-BE49-F238E27FC236}">
                <a16:creationId xmlns:a16="http://schemas.microsoft.com/office/drawing/2014/main" id="{E5C3B3DB-67A6-6A4C-B423-90AE4AC95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76200"/>
            <a:ext cx="89154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4400" b="1">
                <a:solidFill>
                  <a:schemeClr val="accent2"/>
                </a:solidFill>
              </a:rPr>
              <a:t>Lecture 3:  </a:t>
            </a:r>
          </a:p>
          <a:p>
            <a:pPr algn="ctr" eaLnBrk="1" hangingPunct="1"/>
            <a:r>
              <a:rPr lang="en-US" altLang="en-US" sz="4400" b="1">
                <a:solidFill>
                  <a:schemeClr val="accent2"/>
                </a:solidFill>
              </a:rPr>
              <a:t>Density Dependence</a:t>
            </a:r>
          </a:p>
        </p:txBody>
      </p:sp>
      <p:pic>
        <p:nvPicPr>
          <p:cNvPr id="17410" name="Picture 5">
            <a:extLst>
              <a:ext uri="{FF2B5EF4-FFF2-40B4-BE49-F238E27FC236}">
                <a16:creationId xmlns:a16="http://schemas.microsoft.com/office/drawing/2014/main" id="{006FB072-A7B2-A847-B8CF-EA18B3843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655"/>
          <a:stretch>
            <a:fillRect/>
          </a:stretch>
        </p:blipFill>
        <p:spPr bwMode="auto">
          <a:xfrm>
            <a:off x="4038600" y="1600200"/>
            <a:ext cx="1408113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6">
            <a:extLst>
              <a:ext uri="{FF2B5EF4-FFF2-40B4-BE49-F238E27FC236}">
                <a16:creationId xmlns:a16="http://schemas.microsoft.com/office/drawing/2014/main" id="{7BD48347-9191-AB4B-AC62-10B12A0F0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1600200"/>
            <a:ext cx="1524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7" descr="The image “http://www.regione.vda.it/risorsenaturali/cdnatura/img/Mammiferi6.jpg” cannot be displayed, because it contains errors.">
            <a:extLst>
              <a:ext uri="{FF2B5EF4-FFF2-40B4-BE49-F238E27FC236}">
                <a16:creationId xmlns:a16="http://schemas.microsoft.com/office/drawing/2014/main" id="{9E888E7D-F501-1649-9006-3DC2E56E2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976688"/>
            <a:ext cx="3276600" cy="268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8">
            <a:extLst>
              <a:ext uri="{FF2B5EF4-FFF2-40B4-BE49-F238E27FC236}">
                <a16:creationId xmlns:a16="http://schemas.microsoft.com/office/drawing/2014/main" id="{E88E24BC-85E9-A54C-9D9C-07DA75AD7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82" b="9091"/>
          <a:stretch>
            <a:fillRect/>
          </a:stretch>
        </p:blipFill>
        <p:spPr bwMode="auto">
          <a:xfrm>
            <a:off x="6773863" y="3962400"/>
            <a:ext cx="2141537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9" descr="The image “http://www.fcps.k12.va.us/StratfordLandingES/Ecology/Fish/Bluegill/bluegill4.jpg” cannot be displayed, because it contains errors.">
            <a:extLst>
              <a:ext uri="{FF2B5EF4-FFF2-40B4-BE49-F238E27FC236}">
                <a16:creationId xmlns:a16="http://schemas.microsoft.com/office/drawing/2014/main" id="{304B6765-7473-C645-895D-00621A335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600200"/>
            <a:ext cx="3381375" cy="226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5" name="Picture 10" descr="The image “http://www.wsdot.wa.gov/environment/culres/ethbot/t-z/images/tsugatree.jpg” cannot be displayed, because it contains errors.">
            <a:extLst>
              <a:ext uri="{FF2B5EF4-FFF2-40B4-BE49-F238E27FC236}">
                <a16:creationId xmlns:a16="http://schemas.microsoft.com/office/drawing/2014/main" id="{D3A95BE6-66EE-3445-8F2A-651AC3B3A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8" y="1600200"/>
            <a:ext cx="2278062" cy="394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4" descr="scan2-">
            <a:extLst>
              <a:ext uri="{FF2B5EF4-FFF2-40B4-BE49-F238E27FC236}">
                <a16:creationId xmlns:a16="http://schemas.microsoft.com/office/drawing/2014/main" id="{254DD7A5-1AD2-7849-9016-171C25A87211}"/>
              </a:ext>
            </a:extLst>
          </p:cNvPr>
          <p:cNvPicPr>
            <a:picLocks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8382000" cy="5303838"/>
          </a:xfrm>
          <a:noFill/>
        </p:spPr>
      </p:pic>
      <p:sp>
        <p:nvSpPr>
          <p:cNvPr id="19458" name="Text Box 6">
            <a:extLst>
              <a:ext uri="{FF2B5EF4-FFF2-40B4-BE49-F238E27FC236}">
                <a16:creationId xmlns:a16="http://schemas.microsoft.com/office/drawing/2014/main" id="{BE9A2A8A-BC9C-7D44-B84E-F2FB2AFCE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938" y="76200"/>
            <a:ext cx="90090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 b="1"/>
              <a:t>Muskox- exponential population growth for 30 years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8B2EBA0E-C26C-554B-8327-535953A095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Effects of Crowding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41E22116-AF2D-A14A-9F94-07299236B9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Forestry: Thinning</a:t>
            </a:r>
          </a:p>
        </p:txBody>
      </p:sp>
      <p:grpSp>
        <p:nvGrpSpPr>
          <p:cNvPr id="23554" name="Group 8">
            <a:extLst>
              <a:ext uri="{FF2B5EF4-FFF2-40B4-BE49-F238E27FC236}">
                <a16:creationId xmlns:a16="http://schemas.microsoft.com/office/drawing/2014/main" id="{0BBDBDC4-8EF9-1748-99CD-6664F864B69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04800" y="1524000"/>
            <a:ext cx="8534400" cy="4419600"/>
            <a:chOff x="1828800" y="3276600"/>
            <a:chExt cx="6324600" cy="2835995"/>
          </a:xfrm>
        </p:grpSpPr>
        <p:pic>
          <p:nvPicPr>
            <p:cNvPr id="23555" name="Picture 6">
              <a:extLst>
                <a:ext uri="{FF2B5EF4-FFF2-40B4-BE49-F238E27FC236}">
                  <a16:creationId xmlns:a16="http://schemas.microsoft.com/office/drawing/2014/main" id="{91F9CDEA-816D-314A-9389-B7CB907C5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94" t="58698" r="26414"/>
            <a:stretch>
              <a:fillRect/>
            </a:stretch>
          </p:blipFill>
          <p:spPr bwMode="auto">
            <a:xfrm>
              <a:off x="1828800" y="3733800"/>
              <a:ext cx="4724400" cy="2372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56" name="Picture 7">
              <a:extLst>
                <a:ext uri="{FF2B5EF4-FFF2-40B4-BE49-F238E27FC236}">
                  <a16:creationId xmlns:a16="http://schemas.microsoft.com/office/drawing/2014/main" id="{EA1908D5-3CEB-A440-9517-995634D4A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641" t="50626" r="6604"/>
            <a:stretch>
              <a:fillRect/>
            </a:stretch>
          </p:blipFill>
          <p:spPr bwMode="auto">
            <a:xfrm>
              <a:off x="6477000" y="3276600"/>
              <a:ext cx="1676400" cy="2835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A8A9128F-7F75-7E47-9F37-46250E822F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ea typeface="ＭＳ Ｐゴシック" panose="020B0600070205080204" pitchFamily="34" charset="-128"/>
              </a:rPr>
              <a:t>Birth rates decrease with density</a:t>
            </a:r>
          </a:p>
        </p:txBody>
      </p:sp>
      <p:pic>
        <p:nvPicPr>
          <p:cNvPr id="25602" name="Picture 4" descr="figure1">
            <a:extLst>
              <a:ext uri="{FF2B5EF4-FFF2-40B4-BE49-F238E27FC236}">
                <a16:creationId xmlns:a16="http://schemas.microsoft.com/office/drawing/2014/main" id="{AAEA9CAA-BAEE-C44A-A3CB-19DA86447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71600"/>
            <a:ext cx="5181600" cy="391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7">
            <a:extLst>
              <a:ext uri="{FF2B5EF4-FFF2-40B4-BE49-F238E27FC236}">
                <a16:creationId xmlns:a16="http://schemas.microsoft.com/office/drawing/2014/main" id="{8BB067EB-BC0B-6A45-A01F-0539163B6049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38800" y="1600200"/>
            <a:ext cx="3276600" cy="3092450"/>
          </a:xfr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07293D2E-3176-4449-A289-BBA9E25E61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Density dependence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D6EDF74E-7897-F54B-B275-AD532B5A44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Types of density dependence</a:t>
            </a:r>
          </a:p>
        </p:txBody>
      </p:sp>
      <p:sp>
        <p:nvSpPr>
          <p:cNvPr id="29698" name="Text Box 3">
            <a:extLst>
              <a:ext uri="{FF2B5EF4-FFF2-40B4-BE49-F238E27FC236}">
                <a16:creationId xmlns:a16="http://schemas.microsoft.com/office/drawing/2014/main" id="{A6D112F0-9DF9-C34C-A19D-7200021DC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1524000"/>
            <a:ext cx="82454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/>
              <a:t>Scramble competition-</a:t>
            </a:r>
            <a:r>
              <a:rPr lang="en-US" altLang="en-US" b="1">
                <a:solidFill>
                  <a:schemeClr val="accent2"/>
                </a:solidFill>
              </a:rPr>
              <a:t> a resource is shared equally among individuals- as the population size increases the amount of resource per individual decreases.</a:t>
            </a:r>
          </a:p>
        </p:txBody>
      </p:sp>
      <p:sp>
        <p:nvSpPr>
          <p:cNvPr id="29699" name="Text Box 4">
            <a:extLst>
              <a:ext uri="{FF2B5EF4-FFF2-40B4-BE49-F238E27FC236}">
                <a16:creationId xmlns:a16="http://schemas.microsoft.com/office/drawing/2014/main" id="{6FF14D36-2795-5F44-9A08-F0063CA0D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3352800"/>
            <a:ext cx="82454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/>
              <a:t>Contest competition-</a:t>
            </a:r>
            <a:r>
              <a:rPr lang="en-US" altLang="en-US" b="1">
                <a:solidFill>
                  <a:schemeClr val="accent2"/>
                </a:solidFill>
              </a:rPr>
              <a:t> resources are shared unequally- as the population size increases some individuals get enough resources to survive and reproduce and some do not.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03FE40CE-D943-494B-8EF5-B3771A546A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Scramble Competition</a:t>
            </a:r>
          </a:p>
        </p:txBody>
      </p:sp>
      <p:sp>
        <p:nvSpPr>
          <p:cNvPr id="31746" name="Text Box 4">
            <a:extLst>
              <a:ext uri="{FF2B5EF4-FFF2-40B4-BE49-F238E27FC236}">
                <a16:creationId xmlns:a16="http://schemas.microsoft.com/office/drawing/2014/main" id="{E2564091-7BED-7D47-8EBE-EB23F2D25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95400"/>
            <a:ext cx="82454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Newly hatched fish- competition for food </a:t>
            </a:r>
          </a:p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If density is low- all of them survive.  </a:t>
            </a:r>
          </a:p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If density  is high- all of them die</a:t>
            </a:r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672EFF1C-E361-4945-BD47-1DB450B08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819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4400" b="1">
                <a:solidFill>
                  <a:schemeClr val="tx2"/>
                </a:solidFill>
              </a:rPr>
              <a:t>Contest competition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3445C6E4-CBB7-E540-A2B7-1F6FD5D3D2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 b="1">
                <a:ea typeface="ＭＳ Ｐゴシック" panose="020B0600070205080204" pitchFamily="34" charset="-128"/>
              </a:rPr>
              <a:t>Modeling Density Dependence</a:t>
            </a:r>
          </a:p>
        </p:txBody>
      </p:sp>
      <p:sp>
        <p:nvSpPr>
          <p:cNvPr id="33794" name="Text Box 3">
            <a:extLst>
              <a:ext uri="{FF2B5EF4-FFF2-40B4-BE49-F238E27FC236}">
                <a16:creationId xmlns:a16="http://schemas.microsoft.com/office/drawing/2014/main" id="{710686B5-1127-1744-A281-F1CE5FD4A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295400"/>
            <a:ext cx="82454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Determine what causes density dependence and add the appropriate equations to our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8311E6A1-5C5A-8143-A498-C3C8FEB91E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Types of equilibrium</a:t>
            </a:r>
          </a:p>
        </p:txBody>
      </p:sp>
      <p:pic>
        <p:nvPicPr>
          <p:cNvPr id="35842" name="Picture 7" descr="density1 012">
            <a:extLst>
              <a:ext uri="{FF2B5EF4-FFF2-40B4-BE49-F238E27FC236}">
                <a16:creationId xmlns:a16="http://schemas.microsoft.com/office/drawing/2014/main" id="{F6922B47-E6FB-634C-9A02-717DB533BC4B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46" b="33766"/>
          <a:stretch>
            <a:fillRect/>
          </a:stretch>
        </p:blipFill>
        <p:spPr>
          <a:xfrm>
            <a:off x="381000" y="1066800"/>
            <a:ext cx="3556000" cy="5334000"/>
          </a:xfrm>
          <a:noFill/>
        </p:spPr>
      </p:pic>
      <p:sp>
        <p:nvSpPr>
          <p:cNvPr id="35843" name="Text Box 9">
            <a:extLst>
              <a:ext uri="{FF2B5EF4-FFF2-40B4-BE49-F238E27FC236}">
                <a16:creationId xmlns:a16="http://schemas.microsoft.com/office/drawing/2014/main" id="{8270F6E1-5194-AA4D-95D8-2E0ACA1B5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1487488"/>
            <a:ext cx="3195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990000"/>
                </a:solidFill>
              </a:rPr>
              <a:t>Unstable equilibrium</a:t>
            </a:r>
          </a:p>
        </p:txBody>
      </p:sp>
      <p:sp>
        <p:nvSpPr>
          <p:cNvPr id="35844" name="Text Box 10">
            <a:extLst>
              <a:ext uri="{FF2B5EF4-FFF2-40B4-BE49-F238E27FC236}">
                <a16:creationId xmlns:a16="http://schemas.microsoft.com/office/drawing/2014/main" id="{8819522F-B1CD-6E42-8BEC-B3179BFE1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4038600"/>
            <a:ext cx="2822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990000"/>
                </a:solidFill>
              </a:rPr>
              <a:t>Stable equilibrium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E1271213-ACF6-8549-94B3-50CBEA595D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 b="1">
                <a:ea typeface="ＭＳ Ｐゴシック" panose="020B0600070205080204" pitchFamily="34" charset="-128"/>
              </a:rPr>
              <a:t>Scramble Competition</a:t>
            </a:r>
          </a:p>
        </p:txBody>
      </p:sp>
      <p:pic>
        <p:nvPicPr>
          <p:cNvPr id="37890" name="Picture 8" descr="figure3">
            <a:extLst>
              <a:ext uri="{FF2B5EF4-FFF2-40B4-BE49-F238E27FC236}">
                <a16:creationId xmlns:a16="http://schemas.microsoft.com/office/drawing/2014/main" id="{367C26D4-80B3-054B-8EDC-8B6488F19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90600"/>
            <a:ext cx="7010400" cy="539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4">
            <a:extLst>
              <a:ext uri="{FF2B5EF4-FFF2-40B4-BE49-F238E27FC236}">
                <a16:creationId xmlns:a16="http://schemas.microsoft.com/office/drawing/2014/main" id="{BDDC27C5-2A39-4D43-AD9B-2CE930468A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Scramble Competition</a:t>
            </a:r>
          </a:p>
        </p:txBody>
      </p:sp>
      <p:pic>
        <p:nvPicPr>
          <p:cNvPr id="39938" name="Picture 9" descr="The image “http://www.fcps.k12.va.us/StratfordLandingES/Ecology/Fish/Bluegill/bluegill4.jpg” cannot be displayed, because it contains errors.">
            <a:extLst>
              <a:ext uri="{FF2B5EF4-FFF2-40B4-BE49-F238E27FC236}">
                <a16:creationId xmlns:a16="http://schemas.microsoft.com/office/drawing/2014/main" id="{840B3162-191C-9F42-A32E-AA2BCE1E49BC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57800" y="2286000"/>
            <a:ext cx="3381375" cy="2262188"/>
          </a:xfrm>
          <a:noFill/>
        </p:spPr>
      </p:pic>
      <p:sp>
        <p:nvSpPr>
          <p:cNvPr id="39939" name="Text Box 11">
            <a:extLst>
              <a:ext uri="{FF2B5EF4-FFF2-40B4-BE49-F238E27FC236}">
                <a16:creationId xmlns:a16="http://schemas.microsoft.com/office/drawing/2014/main" id="{5AAED454-0429-F04E-8C3E-54D6AB046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25" y="4532313"/>
            <a:ext cx="33099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Bluegill (</a:t>
            </a:r>
            <a:r>
              <a:rPr lang="en-US" altLang="en-US" sz="1800" i="1"/>
              <a:t>Lepomis macrochirus</a:t>
            </a:r>
            <a:r>
              <a:rPr lang="en-US" altLang="en-US" sz="1800"/>
              <a:t>)</a:t>
            </a:r>
          </a:p>
        </p:txBody>
      </p:sp>
      <p:pic>
        <p:nvPicPr>
          <p:cNvPr id="39940" name="Picture 15" descr="density1 014">
            <a:extLst>
              <a:ext uri="{FF2B5EF4-FFF2-40B4-BE49-F238E27FC236}">
                <a16:creationId xmlns:a16="http://schemas.microsoft.com/office/drawing/2014/main" id="{EFA1E552-979F-E641-B131-C2B9AD378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4" t="13062" r="9677" b="8571"/>
          <a:stretch>
            <a:fillRect/>
          </a:stretch>
        </p:blipFill>
        <p:spPr bwMode="auto">
          <a:xfrm>
            <a:off x="76200" y="1600200"/>
            <a:ext cx="5105400" cy="360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026">
            <a:extLst>
              <a:ext uri="{FF2B5EF4-FFF2-40B4-BE49-F238E27FC236}">
                <a16:creationId xmlns:a16="http://schemas.microsoft.com/office/drawing/2014/main" id="{45E0B55B-0C6F-4D41-97F0-D2C7B687F7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Discrete logistic equation</a:t>
            </a:r>
          </a:p>
        </p:txBody>
      </p:sp>
      <p:graphicFrame>
        <p:nvGraphicFramePr>
          <p:cNvPr id="41986" name="Object 2">
            <a:extLst>
              <a:ext uri="{FF2B5EF4-FFF2-40B4-BE49-F238E27FC236}">
                <a16:creationId xmlns:a16="http://schemas.microsoft.com/office/drawing/2014/main" id="{A87AD4F9-2C7F-204F-92CF-156316735744}"/>
              </a:ext>
            </a:extLst>
          </p:cNvPr>
          <p:cNvGraphicFramePr>
            <a:graphicFrameLocks noChangeAspect="1"/>
          </p:cNvGraphicFramePr>
          <p:nvPr>
            <p:ph idx="1"/>
          </p:nvPr>
        </p:nvGraphicFramePr>
        <p:xfrm>
          <a:off x="1524000" y="1600200"/>
          <a:ext cx="6096000" cy="179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7" name="Equation" r:id="rId4" imgW="35699700" imgH="10528300" progId="Equation.3">
                  <p:embed/>
                </p:oleObj>
              </mc:Choice>
              <mc:Fallback>
                <p:oleObj name="Equation" r:id="rId4" imgW="35699700" imgH="10528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600200"/>
                        <a:ext cx="6096000" cy="179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3" name="Group 2">
            <a:extLst>
              <a:ext uri="{FF2B5EF4-FFF2-40B4-BE49-F238E27FC236}">
                <a16:creationId xmlns:a16="http://schemas.microsoft.com/office/drawing/2014/main" id="{FFB50352-AC3C-1E4D-AD44-CF3F3DBAE340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676400"/>
            <a:ext cx="2895600" cy="2906713"/>
            <a:chOff x="816" y="1056"/>
            <a:chExt cx="1824" cy="1831"/>
          </a:xfrm>
        </p:grpSpPr>
        <p:sp>
          <p:nvSpPr>
            <p:cNvPr id="44097" name="Line 3">
              <a:extLst>
                <a:ext uri="{FF2B5EF4-FFF2-40B4-BE49-F238E27FC236}">
                  <a16:creationId xmlns:a16="http://schemas.microsoft.com/office/drawing/2014/main" id="{A76B5BC9-44D8-C74E-93D7-36E72A472A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056"/>
              <a:ext cx="0" cy="18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8" name="Line 4">
              <a:extLst>
                <a:ext uri="{FF2B5EF4-FFF2-40B4-BE49-F238E27FC236}">
                  <a16:creationId xmlns:a16="http://schemas.microsoft.com/office/drawing/2014/main" id="{4F10ECDF-8DA6-314B-BE0D-BD18983F8B5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728" y="1975"/>
              <a:ext cx="0" cy="18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34" name="Group 5">
            <a:extLst>
              <a:ext uri="{FF2B5EF4-FFF2-40B4-BE49-F238E27FC236}">
                <a16:creationId xmlns:a16="http://schemas.microsoft.com/office/drawing/2014/main" id="{F8C539FA-3CA1-A241-9148-CDB278940913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1676400"/>
            <a:ext cx="2895600" cy="2906713"/>
            <a:chOff x="816" y="1056"/>
            <a:chExt cx="1824" cy="1831"/>
          </a:xfrm>
        </p:grpSpPr>
        <p:sp>
          <p:nvSpPr>
            <p:cNvPr id="44095" name="Line 6">
              <a:extLst>
                <a:ext uri="{FF2B5EF4-FFF2-40B4-BE49-F238E27FC236}">
                  <a16:creationId xmlns:a16="http://schemas.microsoft.com/office/drawing/2014/main" id="{AE409DA1-2359-C449-ADF1-F0EAF57425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056"/>
              <a:ext cx="0" cy="18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6" name="Line 7">
              <a:extLst>
                <a:ext uri="{FF2B5EF4-FFF2-40B4-BE49-F238E27FC236}">
                  <a16:creationId xmlns:a16="http://schemas.microsoft.com/office/drawing/2014/main" id="{AEE00DE8-A191-8743-B013-E22ECB15165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728" y="1975"/>
              <a:ext cx="0" cy="18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035" name="Line 8">
            <a:extLst>
              <a:ext uri="{FF2B5EF4-FFF2-40B4-BE49-F238E27FC236}">
                <a16:creationId xmlns:a16="http://schemas.microsoft.com/office/drawing/2014/main" id="{A5DB62F8-F1ED-DB48-97D7-F1D3921C67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73250" y="4581525"/>
            <a:ext cx="0" cy="92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6" name="Line 9">
            <a:extLst>
              <a:ext uri="{FF2B5EF4-FFF2-40B4-BE49-F238E27FC236}">
                <a16:creationId xmlns:a16="http://schemas.microsoft.com/office/drawing/2014/main" id="{768AF750-1E9A-7847-8BC3-3B4FAA7EEC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581525"/>
            <a:ext cx="0" cy="92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7" name="Line 10">
            <a:extLst>
              <a:ext uri="{FF2B5EF4-FFF2-40B4-BE49-F238E27FC236}">
                <a16:creationId xmlns:a16="http://schemas.microsoft.com/office/drawing/2014/main" id="{3B1492A2-CDB0-C646-A0AD-D85EB9F816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1563" y="4581525"/>
            <a:ext cx="0" cy="92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8" name="Line 11">
            <a:extLst>
              <a:ext uri="{FF2B5EF4-FFF2-40B4-BE49-F238E27FC236}">
                <a16:creationId xmlns:a16="http://schemas.microsoft.com/office/drawing/2014/main" id="{71F17373-18B8-764D-83C9-EA7F24809B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2688" y="4581525"/>
            <a:ext cx="0" cy="92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9" name="Line 12">
            <a:extLst>
              <a:ext uri="{FF2B5EF4-FFF2-40B4-BE49-F238E27FC236}">
                <a16:creationId xmlns:a16="http://schemas.microsoft.com/office/drawing/2014/main" id="{D634B79C-2DEF-DD44-A1CB-2D97AA6533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2125" y="4581525"/>
            <a:ext cx="0" cy="92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0" name="Text Box 13">
            <a:extLst>
              <a:ext uri="{FF2B5EF4-FFF2-40B4-BE49-F238E27FC236}">
                <a16:creationId xmlns:a16="http://schemas.microsoft.com/office/drawing/2014/main" id="{242BB59A-47DF-F944-8632-AD13D7AE7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46291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44041" name="Text Box 14">
            <a:extLst>
              <a:ext uri="{FF2B5EF4-FFF2-40B4-BE49-F238E27FC236}">
                <a16:creationId xmlns:a16="http://schemas.microsoft.com/office/drawing/2014/main" id="{E5398FC0-00D4-A54B-BEAF-B1C94E032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5" y="4648200"/>
            <a:ext cx="409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20</a:t>
            </a:r>
          </a:p>
        </p:txBody>
      </p:sp>
      <p:sp>
        <p:nvSpPr>
          <p:cNvPr id="44042" name="Text Box 15">
            <a:extLst>
              <a:ext uri="{FF2B5EF4-FFF2-40B4-BE49-F238E27FC236}">
                <a16:creationId xmlns:a16="http://schemas.microsoft.com/office/drawing/2014/main" id="{08A2612A-0367-ED46-BB03-3841543FC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7425" y="4648200"/>
            <a:ext cx="409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40</a:t>
            </a:r>
          </a:p>
        </p:txBody>
      </p:sp>
      <p:sp>
        <p:nvSpPr>
          <p:cNvPr id="44043" name="Text Box 16">
            <a:extLst>
              <a:ext uri="{FF2B5EF4-FFF2-40B4-BE49-F238E27FC236}">
                <a16:creationId xmlns:a16="http://schemas.microsoft.com/office/drawing/2014/main" id="{4323717C-4EFF-6247-B688-AF90F9F1D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450" y="4648200"/>
            <a:ext cx="409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60</a:t>
            </a:r>
          </a:p>
        </p:txBody>
      </p:sp>
      <p:sp>
        <p:nvSpPr>
          <p:cNvPr id="44044" name="Text Box 17">
            <a:extLst>
              <a:ext uri="{FF2B5EF4-FFF2-40B4-BE49-F238E27FC236}">
                <a16:creationId xmlns:a16="http://schemas.microsoft.com/office/drawing/2014/main" id="{9A2DFD6C-2A3C-384E-B49C-BE844106F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425" y="4648200"/>
            <a:ext cx="409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80</a:t>
            </a:r>
          </a:p>
        </p:txBody>
      </p:sp>
      <p:sp>
        <p:nvSpPr>
          <p:cNvPr id="44045" name="Text Box 18">
            <a:extLst>
              <a:ext uri="{FF2B5EF4-FFF2-40B4-BE49-F238E27FC236}">
                <a16:creationId xmlns:a16="http://schemas.microsoft.com/office/drawing/2014/main" id="{B49A52DB-3A31-FF44-92B4-94E772117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4648200"/>
            <a:ext cx="522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100</a:t>
            </a:r>
          </a:p>
        </p:txBody>
      </p:sp>
      <p:grpSp>
        <p:nvGrpSpPr>
          <p:cNvPr id="44046" name="Group 19">
            <a:extLst>
              <a:ext uri="{FF2B5EF4-FFF2-40B4-BE49-F238E27FC236}">
                <a16:creationId xmlns:a16="http://schemas.microsoft.com/office/drawing/2014/main" id="{9A5AF880-8DF2-7940-B944-EDA259C1118E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90488" y="2789237"/>
            <a:ext cx="2317750" cy="92075"/>
            <a:chOff x="1276" y="2982"/>
            <a:chExt cx="1460" cy="58"/>
          </a:xfrm>
        </p:grpSpPr>
        <p:sp>
          <p:nvSpPr>
            <p:cNvPr id="44090" name="Line 20">
              <a:extLst>
                <a:ext uri="{FF2B5EF4-FFF2-40B4-BE49-F238E27FC236}">
                  <a16:creationId xmlns:a16="http://schemas.microsoft.com/office/drawing/2014/main" id="{9BB92452-6F5D-6046-8E0B-333CCAF7C3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6" y="2982"/>
              <a:ext cx="0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1" name="Line 21">
              <a:extLst>
                <a:ext uri="{FF2B5EF4-FFF2-40B4-BE49-F238E27FC236}">
                  <a16:creationId xmlns:a16="http://schemas.microsoft.com/office/drawing/2014/main" id="{A772BA04-DDDD-E240-9EC6-526C7CD9A8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982"/>
              <a:ext cx="0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2" name="Line 22">
              <a:extLst>
                <a:ext uri="{FF2B5EF4-FFF2-40B4-BE49-F238E27FC236}">
                  <a16:creationId xmlns:a16="http://schemas.microsoft.com/office/drawing/2014/main" id="{CEC33D45-82C4-8C48-B478-0FDB64DE1C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1" y="2982"/>
              <a:ext cx="0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3" name="Line 23">
              <a:extLst>
                <a:ext uri="{FF2B5EF4-FFF2-40B4-BE49-F238E27FC236}">
                  <a16:creationId xmlns:a16="http://schemas.microsoft.com/office/drawing/2014/main" id="{0FFDEE10-6B14-1449-8ACE-F1275C2712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1" y="2982"/>
              <a:ext cx="0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4" name="Line 24">
              <a:extLst>
                <a:ext uri="{FF2B5EF4-FFF2-40B4-BE49-F238E27FC236}">
                  <a16:creationId xmlns:a16="http://schemas.microsoft.com/office/drawing/2014/main" id="{0A3D3F65-47CF-DB4C-8F3F-9CABF8F653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6" y="2982"/>
              <a:ext cx="0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047" name="Text Box 25">
            <a:extLst>
              <a:ext uri="{FF2B5EF4-FFF2-40B4-BE49-F238E27FC236}">
                <a16:creationId xmlns:a16="http://schemas.microsoft.com/office/drawing/2014/main" id="{05AAD05E-5EE1-3645-A5FF-8B9949DDE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025" y="44069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44048" name="Text Box 26">
            <a:extLst>
              <a:ext uri="{FF2B5EF4-FFF2-40B4-BE49-F238E27FC236}">
                <a16:creationId xmlns:a16="http://schemas.microsoft.com/office/drawing/2014/main" id="{A4BE097A-E273-6245-B399-AF8C42A1B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13" y="3825875"/>
            <a:ext cx="409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20</a:t>
            </a:r>
          </a:p>
        </p:txBody>
      </p:sp>
      <p:sp>
        <p:nvSpPr>
          <p:cNvPr id="44049" name="Text Box 27">
            <a:extLst>
              <a:ext uri="{FF2B5EF4-FFF2-40B4-BE49-F238E27FC236}">
                <a16:creationId xmlns:a16="http://schemas.microsoft.com/office/drawing/2014/main" id="{C236D340-C80C-764E-8475-4B8FADC73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13" y="3244850"/>
            <a:ext cx="409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40</a:t>
            </a:r>
          </a:p>
        </p:txBody>
      </p:sp>
      <p:sp>
        <p:nvSpPr>
          <p:cNvPr id="44050" name="Text Box 28">
            <a:extLst>
              <a:ext uri="{FF2B5EF4-FFF2-40B4-BE49-F238E27FC236}">
                <a16:creationId xmlns:a16="http://schemas.microsoft.com/office/drawing/2014/main" id="{B64EE0CF-5B19-7A4D-B37C-567E63179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13" y="2665413"/>
            <a:ext cx="409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60</a:t>
            </a:r>
          </a:p>
        </p:txBody>
      </p:sp>
      <p:sp>
        <p:nvSpPr>
          <p:cNvPr id="44051" name="Text Box 29">
            <a:extLst>
              <a:ext uri="{FF2B5EF4-FFF2-40B4-BE49-F238E27FC236}">
                <a16:creationId xmlns:a16="http://schemas.microsoft.com/office/drawing/2014/main" id="{FA264E82-FB92-F342-9493-046F0031E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13" y="2084388"/>
            <a:ext cx="409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80</a:t>
            </a:r>
          </a:p>
        </p:txBody>
      </p:sp>
      <p:sp>
        <p:nvSpPr>
          <p:cNvPr id="44052" name="Text Box 30">
            <a:extLst>
              <a:ext uri="{FF2B5EF4-FFF2-40B4-BE49-F238E27FC236}">
                <a16:creationId xmlns:a16="http://schemas.microsoft.com/office/drawing/2014/main" id="{0EDBFAFA-3608-F049-8DB5-43156E9F8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1504950"/>
            <a:ext cx="522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100</a:t>
            </a:r>
          </a:p>
        </p:txBody>
      </p:sp>
      <p:sp>
        <p:nvSpPr>
          <p:cNvPr id="44053" name="Text Box 31">
            <a:extLst>
              <a:ext uri="{FF2B5EF4-FFF2-40B4-BE49-F238E27FC236}">
                <a16:creationId xmlns:a16="http://schemas.microsoft.com/office/drawing/2014/main" id="{50B86E67-A1C3-7745-90E5-946E62911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5029200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N</a:t>
            </a:r>
            <a:r>
              <a:rPr lang="en-US" altLang="en-US" b="1" baseline="-25000">
                <a:solidFill>
                  <a:schemeClr val="accent2"/>
                </a:solidFill>
              </a:rPr>
              <a:t>t</a:t>
            </a:r>
          </a:p>
        </p:txBody>
      </p:sp>
      <p:sp>
        <p:nvSpPr>
          <p:cNvPr id="44054" name="Text Box 32">
            <a:extLst>
              <a:ext uri="{FF2B5EF4-FFF2-40B4-BE49-F238E27FC236}">
                <a16:creationId xmlns:a16="http://schemas.microsoft.com/office/drawing/2014/main" id="{7A696246-E4F8-B843-B626-03F3293FC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2895600"/>
            <a:ext cx="704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N</a:t>
            </a:r>
            <a:r>
              <a:rPr lang="en-US" altLang="en-US" b="1" baseline="-25000">
                <a:solidFill>
                  <a:schemeClr val="accent2"/>
                </a:solidFill>
              </a:rPr>
              <a:t>t+1</a:t>
            </a:r>
          </a:p>
        </p:txBody>
      </p:sp>
      <p:sp>
        <p:nvSpPr>
          <p:cNvPr id="44055" name="Line 33">
            <a:extLst>
              <a:ext uri="{FF2B5EF4-FFF2-40B4-BE49-F238E27FC236}">
                <a16:creationId xmlns:a16="http://schemas.microsoft.com/office/drawing/2014/main" id="{0C779D68-F880-C540-A123-AE24EDB9CA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1685925"/>
            <a:ext cx="2743200" cy="2895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6" name="Text Box 34">
            <a:extLst>
              <a:ext uri="{FF2B5EF4-FFF2-40B4-BE49-F238E27FC236}">
                <a16:creationId xmlns:a16="http://schemas.microsoft.com/office/drawing/2014/main" id="{D2D8403A-3A9F-1046-AE4D-5A4DFCBE9D15}"/>
              </a:ext>
            </a:extLst>
          </p:cNvPr>
          <p:cNvSpPr txBox="1">
            <a:spLocks noChangeArrowheads="1"/>
          </p:cNvSpPr>
          <p:nvPr/>
        </p:nvSpPr>
        <p:spPr bwMode="auto">
          <a:xfrm rot="-2812394">
            <a:off x="3074988" y="1725612"/>
            <a:ext cx="922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b="1"/>
              <a:t>N</a:t>
            </a:r>
            <a:r>
              <a:rPr lang="en-US" altLang="en-US" sz="1800" b="1" baseline="-25000"/>
              <a:t>t+1</a:t>
            </a:r>
            <a:r>
              <a:rPr lang="en-US" altLang="en-US" sz="1800" b="1"/>
              <a:t>=N</a:t>
            </a:r>
            <a:r>
              <a:rPr lang="en-US" altLang="en-US" sz="1800" b="1" baseline="-25000"/>
              <a:t>t</a:t>
            </a:r>
          </a:p>
        </p:txBody>
      </p:sp>
      <p:sp>
        <p:nvSpPr>
          <p:cNvPr id="44057" name="Freeform 35">
            <a:extLst>
              <a:ext uri="{FF2B5EF4-FFF2-40B4-BE49-F238E27FC236}">
                <a16:creationId xmlns:a16="http://schemas.microsoft.com/office/drawing/2014/main" id="{915FDE16-BC0A-1844-ADF2-25C169414CF9}"/>
              </a:ext>
            </a:extLst>
          </p:cNvPr>
          <p:cNvSpPr>
            <a:spLocks/>
          </p:cNvSpPr>
          <p:nvPr/>
        </p:nvSpPr>
        <p:spPr bwMode="auto">
          <a:xfrm>
            <a:off x="1295400" y="3048000"/>
            <a:ext cx="2362200" cy="1524000"/>
          </a:xfrm>
          <a:custGeom>
            <a:avLst/>
            <a:gdLst>
              <a:gd name="T0" fmla="*/ 0 w 1440"/>
              <a:gd name="T1" fmla="*/ 2147483647 h 1344"/>
              <a:gd name="T2" fmla="*/ 2147483647 w 1440"/>
              <a:gd name="T3" fmla="*/ 0 h 1344"/>
              <a:gd name="T4" fmla="*/ 2147483647 w 1440"/>
              <a:gd name="T5" fmla="*/ 2147483647 h 1344"/>
              <a:gd name="T6" fmla="*/ 0 60000 65536"/>
              <a:gd name="T7" fmla="*/ 0 60000 65536"/>
              <a:gd name="T8" fmla="*/ 0 60000 65536"/>
              <a:gd name="T9" fmla="*/ 0 w 1440"/>
              <a:gd name="T10" fmla="*/ 0 h 1344"/>
              <a:gd name="T11" fmla="*/ 1440 w 1440"/>
              <a:gd name="T12" fmla="*/ 1344 h 13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344">
                <a:moveTo>
                  <a:pt x="0" y="1344"/>
                </a:moveTo>
                <a:cubicBezTo>
                  <a:pt x="216" y="672"/>
                  <a:pt x="432" y="0"/>
                  <a:pt x="672" y="0"/>
                </a:cubicBezTo>
                <a:cubicBezTo>
                  <a:pt x="912" y="0"/>
                  <a:pt x="1176" y="672"/>
                  <a:pt x="1440" y="1344"/>
                </a:cubicBezTo>
              </a:path>
            </a:pathLst>
          </a:cu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8" name="Line 36">
            <a:extLst>
              <a:ext uri="{FF2B5EF4-FFF2-40B4-BE49-F238E27FC236}">
                <a16:creationId xmlns:a16="http://schemas.microsoft.com/office/drawing/2014/main" id="{0B30DF2E-BFB1-C745-945C-46102F639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5525" y="4581525"/>
            <a:ext cx="0" cy="92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9" name="Line 37">
            <a:extLst>
              <a:ext uri="{FF2B5EF4-FFF2-40B4-BE49-F238E27FC236}">
                <a16:creationId xmlns:a16="http://schemas.microsoft.com/office/drawing/2014/main" id="{0EFDCB32-CD50-A04E-9DEB-5A402EEAE73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7638" y="4581525"/>
            <a:ext cx="0" cy="92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0" name="Line 38">
            <a:extLst>
              <a:ext uri="{FF2B5EF4-FFF2-40B4-BE49-F238E27FC236}">
                <a16:creationId xmlns:a16="http://schemas.microsoft.com/office/drawing/2014/main" id="{BBFA47AB-CC04-9B4E-80B8-19373AE95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9750" y="4581525"/>
            <a:ext cx="0" cy="92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1" name="Line 39">
            <a:extLst>
              <a:ext uri="{FF2B5EF4-FFF2-40B4-BE49-F238E27FC236}">
                <a16:creationId xmlns:a16="http://schemas.microsoft.com/office/drawing/2014/main" id="{ADFE3180-A841-BD4B-BD34-A259C0C38FF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1863" y="4581525"/>
            <a:ext cx="0" cy="92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2" name="Line 40">
            <a:extLst>
              <a:ext uri="{FF2B5EF4-FFF2-40B4-BE49-F238E27FC236}">
                <a16:creationId xmlns:a16="http://schemas.microsoft.com/office/drawing/2014/main" id="{1964C230-B173-1B47-978E-EC31DFFA5C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73975" y="4581525"/>
            <a:ext cx="0" cy="92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3" name="Line 41">
            <a:extLst>
              <a:ext uri="{FF2B5EF4-FFF2-40B4-BE49-F238E27FC236}">
                <a16:creationId xmlns:a16="http://schemas.microsoft.com/office/drawing/2014/main" id="{6C014715-440F-EC49-B15B-AE46CB32D2F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66088" y="4581525"/>
            <a:ext cx="0" cy="92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4" name="Line 42">
            <a:extLst>
              <a:ext uri="{FF2B5EF4-FFF2-40B4-BE49-F238E27FC236}">
                <a16:creationId xmlns:a16="http://schemas.microsoft.com/office/drawing/2014/main" id="{D1324718-70A5-7545-B573-20FAE5605505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4581525"/>
            <a:ext cx="0" cy="92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5" name="Text Box 43">
            <a:extLst>
              <a:ext uri="{FF2B5EF4-FFF2-40B4-BE49-F238E27FC236}">
                <a16:creationId xmlns:a16="http://schemas.microsoft.com/office/drawing/2014/main" id="{CF61223B-120A-5E4D-BFFC-9F5989517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62915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44066" name="Text Box 44">
            <a:extLst>
              <a:ext uri="{FF2B5EF4-FFF2-40B4-BE49-F238E27FC236}">
                <a16:creationId xmlns:a16="http://schemas.microsoft.com/office/drawing/2014/main" id="{9CE0477E-7710-E345-AF52-6393AA3FB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4713" y="464820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44067" name="Text Box 45">
            <a:extLst>
              <a:ext uri="{FF2B5EF4-FFF2-40B4-BE49-F238E27FC236}">
                <a16:creationId xmlns:a16="http://schemas.microsoft.com/office/drawing/2014/main" id="{A98DBAC2-0C39-F040-8A40-8117E36C7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8413" y="464820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44068" name="Text Box 46">
            <a:extLst>
              <a:ext uri="{FF2B5EF4-FFF2-40B4-BE49-F238E27FC236}">
                <a16:creationId xmlns:a16="http://schemas.microsoft.com/office/drawing/2014/main" id="{D188254F-4055-7045-8630-71E012352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0525" y="46482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4069" name="Text Box 47">
            <a:extLst>
              <a:ext uri="{FF2B5EF4-FFF2-40B4-BE49-F238E27FC236}">
                <a16:creationId xmlns:a16="http://schemas.microsoft.com/office/drawing/2014/main" id="{C4987FE9-E36D-E244-8ACC-7F0BA3B08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46482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4</a:t>
            </a:r>
          </a:p>
        </p:txBody>
      </p:sp>
      <p:sp>
        <p:nvSpPr>
          <p:cNvPr id="44070" name="Text Box 48">
            <a:extLst>
              <a:ext uri="{FF2B5EF4-FFF2-40B4-BE49-F238E27FC236}">
                <a16:creationId xmlns:a16="http://schemas.microsoft.com/office/drawing/2014/main" id="{14599FFA-6F75-1640-93B9-0644E07C1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6338" y="464820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5</a:t>
            </a:r>
          </a:p>
        </p:txBody>
      </p:sp>
      <p:sp>
        <p:nvSpPr>
          <p:cNvPr id="44071" name="Text Box 49">
            <a:extLst>
              <a:ext uri="{FF2B5EF4-FFF2-40B4-BE49-F238E27FC236}">
                <a16:creationId xmlns:a16="http://schemas.microsoft.com/office/drawing/2014/main" id="{873827A8-960C-6B43-BA5B-8A30D4FCC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38" y="464820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6</a:t>
            </a:r>
          </a:p>
        </p:txBody>
      </p:sp>
      <p:sp>
        <p:nvSpPr>
          <p:cNvPr id="44072" name="Text Box 50">
            <a:extLst>
              <a:ext uri="{FF2B5EF4-FFF2-40B4-BE49-F238E27FC236}">
                <a16:creationId xmlns:a16="http://schemas.microsoft.com/office/drawing/2014/main" id="{11CA7C74-1580-4241-8A15-F15AC371D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3738" y="464820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7</a:t>
            </a:r>
          </a:p>
        </p:txBody>
      </p:sp>
      <p:sp>
        <p:nvSpPr>
          <p:cNvPr id="44073" name="Text Box 51">
            <a:extLst>
              <a:ext uri="{FF2B5EF4-FFF2-40B4-BE49-F238E27FC236}">
                <a16:creationId xmlns:a16="http://schemas.microsoft.com/office/drawing/2014/main" id="{5D980CBB-200E-F541-9760-84DF28DD9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029200"/>
            <a:ext cx="89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Time</a:t>
            </a:r>
            <a:endParaRPr lang="en-US" altLang="en-US" b="1" baseline="-25000">
              <a:solidFill>
                <a:schemeClr val="accent2"/>
              </a:solidFill>
            </a:endParaRPr>
          </a:p>
        </p:txBody>
      </p:sp>
      <p:sp>
        <p:nvSpPr>
          <p:cNvPr id="44074" name="Text Box 52">
            <a:extLst>
              <a:ext uri="{FF2B5EF4-FFF2-40B4-BE49-F238E27FC236}">
                <a16:creationId xmlns:a16="http://schemas.microsoft.com/office/drawing/2014/main" id="{EDFDBF65-3FD6-5B46-AF3F-7FB2146B9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4725" y="2895600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N</a:t>
            </a:r>
            <a:r>
              <a:rPr lang="en-US" altLang="en-US" b="1" baseline="-25000">
                <a:solidFill>
                  <a:schemeClr val="accent2"/>
                </a:solidFill>
              </a:rPr>
              <a:t>t</a:t>
            </a:r>
          </a:p>
        </p:txBody>
      </p:sp>
      <p:grpSp>
        <p:nvGrpSpPr>
          <p:cNvPr id="44075" name="Group 53">
            <a:extLst>
              <a:ext uri="{FF2B5EF4-FFF2-40B4-BE49-F238E27FC236}">
                <a16:creationId xmlns:a16="http://schemas.microsoft.com/office/drawing/2014/main" id="{2F7A04BD-4857-DB47-B6CC-AAC57B48A000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4506913" y="2789237"/>
            <a:ext cx="2317750" cy="92075"/>
            <a:chOff x="1276" y="2982"/>
            <a:chExt cx="1460" cy="58"/>
          </a:xfrm>
        </p:grpSpPr>
        <p:sp>
          <p:nvSpPr>
            <p:cNvPr id="44085" name="Line 54">
              <a:extLst>
                <a:ext uri="{FF2B5EF4-FFF2-40B4-BE49-F238E27FC236}">
                  <a16:creationId xmlns:a16="http://schemas.microsoft.com/office/drawing/2014/main" id="{93934CEF-1C75-4949-A717-083A17DFDB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6" y="2982"/>
              <a:ext cx="0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6" name="Line 55">
              <a:extLst>
                <a:ext uri="{FF2B5EF4-FFF2-40B4-BE49-F238E27FC236}">
                  <a16:creationId xmlns:a16="http://schemas.microsoft.com/office/drawing/2014/main" id="{631EA31F-76E5-1C4A-8262-BA5EB2ACF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982"/>
              <a:ext cx="0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7" name="Line 56">
              <a:extLst>
                <a:ext uri="{FF2B5EF4-FFF2-40B4-BE49-F238E27FC236}">
                  <a16:creationId xmlns:a16="http://schemas.microsoft.com/office/drawing/2014/main" id="{7EF6F4F3-58D9-E748-9085-91D42CEB4A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1" y="2982"/>
              <a:ext cx="0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8" name="Line 57">
              <a:extLst>
                <a:ext uri="{FF2B5EF4-FFF2-40B4-BE49-F238E27FC236}">
                  <a16:creationId xmlns:a16="http://schemas.microsoft.com/office/drawing/2014/main" id="{865DC816-2AFA-E04C-9BDD-1E50690402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1" y="2982"/>
              <a:ext cx="0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9" name="Line 58">
              <a:extLst>
                <a:ext uri="{FF2B5EF4-FFF2-40B4-BE49-F238E27FC236}">
                  <a16:creationId xmlns:a16="http://schemas.microsoft.com/office/drawing/2014/main" id="{1741477A-3F00-0949-BEB5-ED2E869C4A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6" y="2982"/>
              <a:ext cx="0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076" name="Text Box 59">
            <a:extLst>
              <a:ext uri="{FF2B5EF4-FFF2-40B4-BE49-F238E27FC236}">
                <a16:creationId xmlns:a16="http://schemas.microsoft.com/office/drawing/2014/main" id="{26376FE3-9157-3142-9364-C5ADE8886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7975" y="44069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44077" name="Text Box 60">
            <a:extLst>
              <a:ext uri="{FF2B5EF4-FFF2-40B4-BE49-F238E27FC236}">
                <a16:creationId xmlns:a16="http://schemas.microsoft.com/office/drawing/2014/main" id="{0B99EBA9-DD40-B546-894F-AA02BC18F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5738" y="3825875"/>
            <a:ext cx="409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20</a:t>
            </a:r>
          </a:p>
        </p:txBody>
      </p:sp>
      <p:sp>
        <p:nvSpPr>
          <p:cNvPr id="44078" name="Text Box 61">
            <a:extLst>
              <a:ext uri="{FF2B5EF4-FFF2-40B4-BE49-F238E27FC236}">
                <a16:creationId xmlns:a16="http://schemas.microsoft.com/office/drawing/2014/main" id="{A487C1DC-42F0-7E4E-988D-35C4379E5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5738" y="3244850"/>
            <a:ext cx="409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40</a:t>
            </a:r>
          </a:p>
        </p:txBody>
      </p:sp>
      <p:sp>
        <p:nvSpPr>
          <p:cNvPr id="44079" name="Text Box 62">
            <a:extLst>
              <a:ext uri="{FF2B5EF4-FFF2-40B4-BE49-F238E27FC236}">
                <a16:creationId xmlns:a16="http://schemas.microsoft.com/office/drawing/2014/main" id="{AC8C3B4A-66B7-C44B-9DAF-9F58D0E52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5738" y="2665413"/>
            <a:ext cx="409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60</a:t>
            </a:r>
          </a:p>
        </p:txBody>
      </p:sp>
      <p:sp>
        <p:nvSpPr>
          <p:cNvPr id="44080" name="Text Box 63">
            <a:extLst>
              <a:ext uri="{FF2B5EF4-FFF2-40B4-BE49-F238E27FC236}">
                <a16:creationId xmlns:a16="http://schemas.microsoft.com/office/drawing/2014/main" id="{0DC4B2D9-71CD-C546-8BA9-F776B988E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5738" y="2084388"/>
            <a:ext cx="409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80</a:t>
            </a:r>
          </a:p>
        </p:txBody>
      </p:sp>
      <p:sp>
        <p:nvSpPr>
          <p:cNvPr id="44081" name="Text Box 64">
            <a:extLst>
              <a:ext uri="{FF2B5EF4-FFF2-40B4-BE49-F238E27FC236}">
                <a16:creationId xmlns:a16="http://schemas.microsoft.com/office/drawing/2014/main" id="{CD51F6B9-9CFA-4E4D-A38A-6392727FA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3025" y="1504950"/>
            <a:ext cx="522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100</a:t>
            </a:r>
          </a:p>
        </p:txBody>
      </p:sp>
      <p:sp>
        <p:nvSpPr>
          <p:cNvPr id="44082" name="Line 65">
            <a:extLst>
              <a:ext uri="{FF2B5EF4-FFF2-40B4-BE49-F238E27FC236}">
                <a16:creationId xmlns:a16="http://schemas.microsoft.com/office/drawing/2014/main" id="{4A47E13F-E546-4D4D-AB01-A987D47823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124200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83" name="Text Box 66">
            <a:extLst>
              <a:ext uri="{FF2B5EF4-FFF2-40B4-BE49-F238E27FC236}">
                <a16:creationId xmlns:a16="http://schemas.microsoft.com/office/drawing/2014/main" id="{C6B67858-24FF-3542-98F3-80A092323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4388" y="2895600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/>
              <a:t>K</a:t>
            </a:r>
            <a:endParaRPr lang="en-US" altLang="en-US" b="1" baseline="-25000"/>
          </a:p>
        </p:txBody>
      </p:sp>
      <p:sp>
        <p:nvSpPr>
          <p:cNvPr id="44084" name="Text Box 67">
            <a:extLst>
              <a:ext uri="{FF2B5EF4-FFF2-40B4-BE49-F238E27FC236}">
                <a16:creationId xmlns:a16="http://schemas.microsoft.com/office/drawing/2014/main" id="{389257A8-70F1-E547-BDBA-1E5A94B94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867400"/>
            <a:ext cx="3270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i="1"/>
              <a:t>R </a:t>
            </a:r>
            <a:r>
              <a:rPr lang="en-US" altLang="en-US" b="1"/>
              <a:t>= 1.6, N</a:t>
            </a:r>
            <a:r>
              <a:rPr lang="en-US" altLang="en-US" b="1" baseline="-25000"/>
              <a:t>0</a:t>
            </a:r>
            <a:r>
              <a:rPr lang="en-US" altLang="en-US" b="1"/>
              <a:t>=20, </a:t>
            </a:r>
            <a:r>
              <a:rPr lang="en-US" altLang="en-US" b="1" i="1"/>
              <a:t>K </a:t>
            </a:r>
            <a:r>
              <a:rPr lang="en-US" altLang="en-US" b="1"/>
              <a:t>= 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ext Box 5">
            <a:extLst>
              <a:ext uri="{FF2B5EF4-FFF2-40B4-BE49-F238E27FC236}">
                <a16:creationId xmlns:a16="http://schemas.microsoft.com/office/drawing/2014/main" id="{F816F374-4257-9A42-AF78-B68C36A4E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1219200"/>
            <a:ext cx="3411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i="1"/>
              <a:t>R </a:t>
            </a:r>
            <a:r>
              <a:rPr lang="en-US" altLang="en-US" b="1"/>
              <a:t>= 2.1, </a:t>
            </a:r>
            <a:r>
              <a:rPr lang="en-US" altLang="en-US" b="1" i="1"/>
              <a:t>N</a:t>
            </a:r>
            <a:r>
              <a:rPr lang="en-US" altLang="en-US" b="1" baseline="-25000"/>
              <a:t>0 </a:t>
            </a:r>
            <a:r>
              <a:rPr lang="en-US" altLang="en-US" b="1"/>
              <a:t>= 2, </a:t>
            </a:r>
            <a:r>
              <a:rPr lang="en-US" altLang="en-US" b="1" i="1"/>
              <a:t>K </a:t>
            </a:r>
            <a:r>
              <a:rPr lang="en-US" altLang="en-US" b="1"/>
              <a:t>= 100</a:t>
            </a:r>
          </a:p>
        </p:txBody>
      </p:sp>
      <p:pic>
        <p:nvPicPr>
          <p:cNvPr id="46082" name="Picture 8" descr="density1 003">
            <a:extLst>
              <a:ext uri="{FF2B5EF4-FFF2-40B4-BE49-F238E27FC236}">
                <a16:creationId xmlns:a16="http://schemas.microsoft.com/office/drawing/2014/main" id="{162EC309-76DA-2E4B-97CD-F0E5EEB67FCD}"/>
              </a:ext>
            </a:extLst>
          </p:cNvPr>
          <p:cNvPicPr>
            <a:picLocks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5080000" cy="6858000"/>
          </a:xfrm>
          <a:noFill/>
        </p:spPr>
      </p:pic>
      <p:sp>
        <p:nvSpPr>
          <p:cNvPr id="46083" name="Text Box 10">
            <a:extLst>
              <a:ext uri="{FF2B5EF4-FFF2-40B4-BE49-F238E27FC236}">
                <a16:creationId xmlns:a16="http://schemas.microsoft.com/office/drawing/2014/main" id="{5349A786-4ECD-F841-A39E-F300E1CE7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81000"/>
            <a:ext cx="2606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990000"/>
                </a:solidFill>
              </a:rPr>
              <a:t>Increase </a:t>
            </a:r>
            <a:r>
              <a:rPr lang="en-US" altLang="en-US" b="1" i="1">
                <a:solidFill>
                  <a:srgbClr val="990000"/>
                </a:solidFill>
              </a:rPr>
              <a:t>R</a:t>
            </a:r>
            <a:r>
              <a:rPr lang="en-US" altLang="en-US" b="1">
                <a:solidFill>
                  <a:srgbClr val="990000"/>
                </a:solidFill>
              </a:rPr>
              <a:t> to 2.1</a:t>
            </a:r>
          </a:p>
        </p:txBody>
      </p:sp>
      <p:sp>
        <p:nvSpPr>
          <p:cNvPr id="46084" name="Text Box 11">
            <a:extLst>
              <a:ext uri="{FF2B5EF4-FFF2-40B4-BE49-F238E27FC236}">
                <a16:creationId xmlns:a16="http://schemas.microsoft.com/office/drawing/2014/main" id="{26CE72BF-CF26-2C46-97C5-1D65F2A5B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286000"/>
            <a:ext cx="304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/>
              <a:t>Stable 2-point cycle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ext Box 4">
            <a:extLst>
              <a:ext uri="{FF2B5EF4-FFF2-40B4-BE49-F238E27FC236}">
                <a16:creationId xmlns:a16="http://schemas.microsoft.com/office/drawing/2014/main" id="{B0E73487-CD1D-AF48-9F8A-AC5366A50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04800"/>
            <a:ext cx="3411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i="1"/>
              <a:t>R </a:t>
            </a:r>
            <a:r>
              <a:rPr lang="en-US" altLang="en-US" b="1"/>
              <a:t>= 2.5, </a:t>
            </a:r>
            <a:r>
              <a:rPr lang="en-US" altLang="en-US" b="1" i="1"/>
              <a:t>N</a:t>
            </a:r>
            <a:r>
              <a:rPr lang="en-US" altLang="en-US" b="1" baseline="-25000"/>
              <a:t>0 </a:t>
            </a:r>
            <a:r>
              <a:rPr lang="en-US" altLang="en-US" b="1"/>
              <a:t>= 2, </a:t>
            </a:r>
            <a:r>
              <a:rPr lang="en-US" altLang="en-US" b="1" i="1"/>
              <a:t>K </a:t>
            </a:r>
            <a:r>
              <a:rPr lang="en-US" altLang="en-US" b="1"/>
              <a:t>= 100</a:t>
            </a:r>
          </a:p>
        </p:txBody>
      </p:sp>
      <p:pic>
        <p:nvPicPr>
          <p:cNvPr id="48130" name="Picture 7" descr="density1 005">
            <a:extLst>
              <a:ext uri="{FF2B5EF4-FFF2-40B4-BE49-F238E27FC236}">
                <a16:creationId xmlns:a16="http://schemas.microsoft.com/office/drawing/2014/main" id="{F9497BDD-EF23-994C-98F2-F44CFFE02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9" t="4445" r="3334" b="4445"/>
          <a:stretch>
            <a:fillRect/>
          </a:stretch>
        </p:blipFill>
        <p:spPr bwMode="auto">
          <a:xfrm>
            <a:off x="0" y="1136650"/>
            <a:ext cx="9144000" cy="331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1" name="Text Box 8">
            <a:extLst>
              <a:ext uri="{FF2B5EF4-FFF2-40B4-BE49-F238E27FC236}">
                <a16:creationId xmlns:a16="http://schemas.microsoft.com/office/drawing/2014/main" id="{63CE2F9D-7020-9843-A79B-10EDF6F11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105400"/>
            <a:ext cx="304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/>
              <a:t>Stable 4-point cycle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4">
            <a:extLst>
              <a:ext uri="{FF2B5EF4-FFF2-40B4-BE49-F238E27FC236}">
                <a16:creationId xmlns:a16="http://schemas.microsoft.com/office/drawing/2014/main" id="{CA3EA3E3-9F56-CF48-A6BF-7D0FFF4A8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04800"/>
            <a:ext cx="3411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i="1"/>
              <a:t>R </a:t>
            </a:r>
            <a:r>
              <a:rPr lang="en-US" altLang="en-US" b="1"/>
              <a:t>= 2.55, </a:t>
            </a:r>
            <a:r>
              <a:rPr lang="en-US" altLang="en-US" b="1" i="1"/>
              <a:t>N</a:t>
            </a:r>
            <a:r>
              <a:rPr lang="en-US" altLang="en-US" b="1" baseline="-25000"/>
              <a:t>0 </a:t>
            </a:r>
            <a:r>
              <a:rPr lang="en-US" altLang="en-US" b="1"/>
              <a:t>= 2, </a:t>
            </a:r>
            <a:r>
              <a:rPr lang="en-US" altLang="en-US" b="1" i="1"/>
              <a:t>K </a:t>
            </a:r>
            <a:r>
              <a:rPr lang="en-US" altLang="en-US" b="1"/>
              <a:t>= 50</a:t>
            </a:r>
          </a:p>
        </p:txBody>
      </p:sp>
      <p:pic>
        <p:nvPicPr>
          <p:cNvPr id="50178" name="Picture 7" descr="density1 006">
            <a:extLst>
              <a:ext uri="{FF2B5EF4-FFF2-40B4-BE49-F238E27FC236}">
                <a16:creationId xmlns:a16="http://schemas.microsoft.com/office/drawing/2014/main" id="{06727247-9607-FF4C-93FF-873EBB84F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14400"/>
            <a:ext cx="8077200" cy="512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79" name="Text Box 8">
            <a:extLst>
              <a:ext uri="{FF2B5EF4-FFF2-40B4-BE49-F238E27FC236}">
                <a16:creationId xmlns:a16="http://schemas.microsoft.com/office/drawing/2014/main" id="{904E828D-A9DE-0541-B6A7-61CE36E4A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096000"/>
            <a:ext cx="304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/>
              <a:t>Stable 8-point cycle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ext Box 4">
            <a:extLst>
              <a:ext uri="{FF2B5EF4-FFF2-40B4-BE49-F238E27FC236}">
                <a16:creationId xmlns:a16="http://schemas.microsoft.com/office/drawing/2014/main" id="{28194A99-A359-BE44-98C1-E6787E359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177800"/>
            <a:ext cx="888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 b="1"/>
              <a:t>When </a:t>
            </a:r>
            <a:r>
              <a:rPr lang="en-US" altLang="en-US" sz="2800" b="1" i="1"/>
              <a:t>R </a:t>
            </a:r>
            <a:r>
              <a:rPr lang="en-US" altLang="en-US" sz="2800" b="1"/>
              <a:t>&gt; 2.57, population growth becomes chaotic</a:t>
            </a:r>
          </a:p>
        </p:txBody>
      </p:sp>
      <p:pic>
        <p:nvPicPr>
          <p:cNvPr id="52226" name="Picture 13" descr="density1 007">
            <a:extLst>
              <a:ext uri="{FF2B5EF4-FFF2-40B4-BE49-F238E27FC236}">
                <a16:creationId xmlns:a16="http://schemas.microsoft.com/office/drawing/2014/main" id="{9586FA61-E12F-E647-A334-5262512C8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914400"/>
            <a:ext cx="5065713" cy="345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27" name="Picture 14" descr="density1 008">
            <a:extLst>
              <a:ext uri="{FF2B5EF4-FFF2-40B4-BE49-F238E27FC236}">
                <a16:creationId xmlns:a16="http://schemas.microsoft.com/office/drawing/2014/main" id="{42DDD9FA-0A5D-CE46-8875-2DB37946B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9"/>
          <a:stretch>
            <a:fillRect/>
          </a:stretch>
        </p:blipFill>
        <p:spPr bwMode="auto">
          <a:xfrm>
            <a:off x="152400" y="914400"/>
            <a:ext cx="37338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3" name="Picture 4" descr="density1 009">
            <a:extLst>
              <a:ext uri="{FF2B5EF4-FFF2-40B4-BE49-F238E27FC236}">
                <a16:creationId xmlns:a16="http://schemas.microsoft.com/office/drawing/2014/main" id="{83785875-1E3E-3342-BB65-0A5785537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3400"/>
            <a:ext cx="9144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40">
            <a:extLst>
              <a:ext uri="{FF2B5EF4-FFF2-40B4-BE49-F238E27FC236}">
                <a16:creationId xmlns:a16="http://schemas.microsoft.com/office/drawing/2014/main" id="{20521215-C85E-4640-84C1-254E8E0C0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8600"/>
            <a:ext cx="87630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u="sng"/>
              <a:t>Range of R			Dynamic behavior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/>
              <a:t>R &lt; 2.000 			Stable equilibrium at K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/>
              <a:t>2.000 &lt; R &lt; 2.449 		Stable 2-point cycle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/>
              <a:t>2.449 &lt; R &lt; 2.544 		Stable 4-point cycle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/>
              <a:t>2.544 &lt; R &lt; 2.564 		Stable 8-point cycle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/>
              <a:t>2.564 &lt; R &lt; 2.570 		Larger-point cycles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/>
              <a:t>R &gt; 2.570 			Chaos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42A24327-19F1-3F46-B584-235BC512830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Bifurcation diagram</a:t>
            </a:r>
          </a:p>
        </p:txBody>
      </p:sp>
      <p:pic>
        <p:nvPicPr>
          <p:cNvPr id="58370" name="Picture 8" descr="density1 010">
            <a:extLst>
              <a:ext uri="{FF2B5EF4-FFF2-40B4-BE49-F238E27FC236}">
                <a16:creationId xmlns:a16="http://schemas.microsoft.com/office/drawing/2014/main" id="{D24730BA-9992-CB41-B420-5C0B35B83B25}"/>
              </a:ext>
            </a:extLst>
          </p:cNvPr>
          <p:cNvPicPr>
            <a:picLocks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1" r="22858"/>
          <a:stretch>
            <a:fillRect/>
          </a:stretch>
        </p:blipFill>
        <p:spPr>
          <a:xfrm>
            <a:off x="685800" y="1447800"/>
            <a:ext cx="4038600" cy="3673475"/>
          </a:xfrm>
          <a:noFill/>
        </p:spPr>
      </p:pic>
      <p:sp>
        <p:nvSpPr>
          <p:cNvPr id="58371" name="Text Box 10">
            <a:extLst>
              <a:ext uri="{FF2B5EF4-FFF2-40B4-BE49-F238E27FC236}">
                <a16:creationId xmlns:a16="http://schemas.microsoft.com/office/drawing/2014/main" id="{5D05B01B-BD55-C04A-A11F-882799A8185B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-1170781" y="2804319"/>
            <a:ext cx="3168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b="1"/>
              <a:t>Equilibrium population size</a:t>
            </a:r>
          </a:p>
        </p:txBody>
      </p:sp>
      <p:pic>
        <p:nvPicPr>
          <p:cNvPr id="58372" name="Picture 11" descr="density1 011">
            <a:extLst>
              <a:ext uri="{FF2B5EF4-FFF2-40B4-BE49-F238E27FC236}">
                <a16:creationId xmlns:a16="http://schemas.microsoft.com/office/drawing/2014/main" id="{5AE5162D-BC09-5842-B259-99E58EBE9E46}"/>
              </a:ext>
            </a:extLst>
          </p:cNvPr>
          <p:cNvPicPr>
            <a:picLocks noChangeAspect="1" noChangeArrowheads="1"/>
          </p:cNvPicPr>
          <p:nvPr>
            <p:ph sz="half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2" t="7143" r="2380" b="11905"/>
          <a:stretch>
            <a:fillRect/>
          </a:stretch>
        </p:blipFill>
        <p:spPr>
          <a:xfrm>
            <a:off x="4800600" y="1524000"/>
            <a:ext cx="4114800" cy="3587750"/>
          </a:xfr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17" name="Group 2">
            <a:extLst>
              <a:ext uri="{FF2B5EF4-FFF2-40B4-BE49-F238E27FC236}">
                <a16:creationId xmlns:a16="http://schemas.microsoft.com/office/drawing/2014/main" id="{58C8E79F-CD1F-A048-A6A6-C71F41315C42}"/>
              </a:ext>
            </a:extLst>
          </p:cNvPr>
          <p:cNvGrpSpPr>
            <a:grpSpLocks/>
          </p:cNvGrpSpPr>
          <p:nvPr/>
        </p:nvGrpSpPr>
        <p:grpSpPr bwMode="auto">
          <a:xfrm>
            <a:off x="2489200" y="1219200"/>
            <a:ext cx="1676400" cy="1676400"/>
            <a:chOff x="384" y="432"/>
            <a:chExt cx="1056" cy="1056"/>
          </a:xfrm>
        </p:grpSpPr>
        <p:sp>
          <p:nvSpPr>
            <p:cNvPr id="60443" name="Line 3">
              <a:extLst>
                <a:ext uri="{FF2B5EF4-FFF2-40B4-BE49-F238E27FC236}">
                  <a16:creationId xmlns:a16="http://schemas.microsoft.com/office/drawing/2014/main" id="{DD82C903-1E01-8242-B6F7-0E8D859F01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432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4" name="Line 4">
              <a:extLst>
                <a:ext uri="{FF2B5EF4-FFF2-40B4-BE49-F238E27FC236}">
                  <a16:creationId xmlns:a16="http://schemas.microsoft.com/office/drawing/2014/main" id="{22F7E569-EB19-E94B-BBEE-88145EFC3E2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12" y="960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418" name="Group 5">
            <a:extLst>
              <a:ext uri="{FF2B5EF4-FFF2-40B4-BE49-F238E27FC236}">
                <a16:creationId xmlns:a16="http://schemas.microsoft.com/office/drawing/2014/main" id="{1FDC9B90-0F63-A347-AD96-DB8146B303C9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1219200"/>
            <a:ext cx="1676400" cy="1676400"/>
            <a:chOff x="384" y="432"/>
            <a:chExt cx="1056" cy="1056"/>
          </a:xfrm>
        </p:grpSpPr>
        <p:sp>
          <p:nvSpPr>
            <p:cNvPr id="60441" name="Line 6">
              <a:extLst>
                <a:ext uri="{FF2B5EF4-FFF2-40B4-BE49-F238E27FC236}">
                  <a16:creationId xmlns:a16="http://schemas.microsoft.com/office/drawing/2014/main" id="{0925690D-92CF-9E4C-8656-394EB5550D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432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2" name="Line 7">
              <a:extLst>
                <a:ext uri="{FF2B5EF4-FFF2-40B4-BE49-F238E27FC236}">
                  <a16:creationId xmlns:a16="http://schemas.microsoft.com/office/drawing/2014/main" id="{A1DA619F-B21F-3247-9955-554A7E4BCAF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12" y="960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419" name="Group 14">
            <a:extLst>
              <a:ext uri="{FF2B5EF4-FFF2-40B4-BE49-F238E27FC236}">
                <a16:creationId xmlns:a16="http://schemas.microsoft.com/office/drawing/2014/main" id="{0C2C5180-E0D6-8C4D-899C-C0448C221EFA}"/>
              </a:ext>
            </a:extLst>
          </p:cNvPr>
          <p:cNvGrpSpPr>
            <a:grpSpLocks/>
          </p:cNvGrpSpPr>
          <p:nvPr/>
        </p:nvGrpSpPr>
        <p:grpSpPr bwMode="auto">
          <a:xfrm>
            <a:off x="2489200" y="4038600"/>
            <a:ext cx="1676400" cy="1676400"/>
            <a:chOff x="384" y="432"/>
            <a:chExt cx="1056" cy="1056"/>
          </a:xfrm>
        </p:grpSpPr>
        <p:sp>
          <p:nvSpPr>
            <p:cNvPr id="60439" name="Line 15">
              <a:extLst>
                <a:ext uri="{FF2B5EF4-FFF2-40B4-BE49-F238E27FC236}">
                  <a16:creationId xmlns:a16="http://schemas.microsoft.com/office/drawing/2014/main" id="{0E3ADEA2-6BA1-844E-8D23-A76274FEF2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432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0" name="Line 16">
              <a:extLst>
                <a:ext uri="{FF2B5EF4-FFF2-40B4-BE49-F238E27FC236}">
                  <a16:creationId xmlns:a16="http://schemas.microsoft.com/office/drawing/2014/main" id="{2859B7FD-F421-2540-A00C-FB3CC21873A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12" y="960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420" name="Group 17">
            <a:extLst>
              <a:ext uri="{FF2B5EF4-FFF2-40B4-BE49-F238E27FC236}">
                <a16:creationId xmlns:a16="http://schemas.microsoft.com/office/drawing/2014/main" id="{3EEA8740-673E-534A-8C64-1C8159DD0AF3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4038600"/>
            <a:ext cx="1676400" cy="1676400"/>
            <a:chOff x="384" y="432"/>
            <a:chExt cx="1056" cy="1056"/>
          </a:xfrm>
        </p:grpSpPr>
        <p:sp>
          <p:nvSpPr>
            <p:cNvPr id="60437" name="Line 18">
              <a:extLst>
                <a:ext uri="{FF2B5EF4-FFF2-40B4-BE49-F238E27FC236}">
                  <a16:creationId xmlns:a16="http://schemas.microsoft.com/office/drawing/2014/main" id="{6D488383-94DB-5344-B0D8-043A4EFD96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432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8" name="Line 19">
              <a:extLst>
                <a:ext uri="{FF2B5EF4-FFF2-40B4-BE49-F238E27FC236}">
                  <a16:creationId xmlns:a16="http://schemas.microsoft.com/office/drawing/2014/main" id="{A99DDE38-93C4-4E45-B43C-B08C90BD921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12" y="960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0421" name="Text Box 26">
            <a:extLst>
              <a:ext uri="{FF2B5EF4-FFF2-40B4-BE49-F238E27FC236}">
                <a16:creationId xmlns:a16="http://schemas.microsoft.com/office/drawing/2014/main" id="{EA1A9749-EA23-744B-82DA-E6D5D9D64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3888" y="2932113"/>
            <a:ext cx="3921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N</a:t>
            </a:r>
            <a:r>
              <a:rPr lang="en-US" altLang="en-US" sz="1800" baseline="-25000"/>
              <a:t>t</a:t>
            </a:r>
          </a:p>
        </p:txBody>
      </p:sp>
      <p:sp>
        <p:nvSpPr>
          <p:cNvPr id="60422" name="Text Box 27">
            <a:extLst>
              <a:ext uri="{FF2B5EF4-FFF2-40B4-BE49-F238E27FC236}">
                <a16:creationId xmlns:a16="http://schemas.microsoft.com/office/drawing/2014/main" id="{05A8732C-7956-D941-90B3-6E04883F6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0" y="1828800"/>
            <a:ext cx="56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N</a:t>
            </a:r>
            <a:r>
              <a:rPr lang="en-US" altLang="en-US" sz="1800" baseline="-25000"/>
              <a:t>t+1</a:t>
            </a:r>
          </a:p>
        </p:txBody>
      </p:sp>
      <p:sp>
        <p:nvSpPr>
          <p:cNvPr id="60423" name="Text Box 28">
            <a:extLst>
              <a:ext uri="{FF2B5EF4-FFF2-40B4-BE49-F238E27FC236}">
                <a16:creationId xmlns:a16="http://schemas.microsoft.com/office/drawing/2014/main" id="{24BA1A8E-92AD-3A4B-AB2A-07182E280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0675" y="2932113"/>
            <a:ext cx="3921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N</a:t>
            </a:r>
            <a:r>
              <a:rPr lang="en-US" altLang="en-US" sz="1800" baseline="-25000"/>
              <a:t>t</a:t>
            </a:r>
          </a:p>
        </p:txBody>
      </p:sp>
      <p:sp>
        <p:nvSpPr>
          <p:cNvPr id="60424" name="Text Box 29">
            <a:extLst>
              <a:ext uri="{FF2B5EF4-FFF2-40B4-BE49-F238E27FC236}">
                <a16:creationId xmlns:a16="http://schemas.microsoft.com/office/drawing/2014/main" id="{6E9F4762-1930-7443-8386-6A28F2B62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1800" y="1828800"/>
            <a:ext cx="56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N</a:t>
            </a:r>
            <a:r>
              <a:rPr lang="en-US" altLang="en-US" sz="1800" baseline="-25000"/>
              <a:t>t+1</a:t>
            </a:r>
          </a:p>
        </p:txBody>
      </p:sp>
      <p:sp>
        <p:nvSpPr>
          <p:cNvPr id="60425" name="Text Box 34">
            <a:extLst>
              <a:ext uri="{FF2B5EF4-FFF2-40B4-BE49-F238E27FC236}">
                <a16:creationId xmlns:a16="http://schemas.microsoft.com/office/drawing/2014/main" id="{AADA52A7-C815-7643-88EA-00CA7BB9D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0" y="5729288"/>
            <a:ext cx="3921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N</a:t>
            </a:r>
            <a:r>
              <a:rPr lang="en-US" altLang="en-US" sz="1800" baseline="-25000"/>
              <a:t>t</a:t>
            </a:r>
          </a:p>
        </p:txBody>
      </p:sp>
      <p:sp>
        <p:nvSpPr>
          <p:cNvPr id="60426" name="Text Box 35">
            <a:extLst>
              <a:ext uri="{FF2B5EF4-FFF2-40B4-BE49-F238E27FC236}">
                <a16:creationId xmlns:a16="http://schemas.microsoft.com/office/drawing/2014/main" id="{31EE2215-D839-A54F-87C5-E1325871B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5715000"/>
            <a:ext cx="3921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N</a:t>
            </a:r>
            <a:r>
              <a:rPr lang="en-US" altLang="en-US" sz="1800" baseline="-25000"/>
              <a:t>t</a:t>
            </a:r>
          </a:p>
        </p:txBody>
      </p:sp>
      <p:sp>
        <p:nvSpPr>
          <p:cNvPr id="60427" name="Text Box 42">
            <a:extLst>
              <a:ext uri="{FF2B5EF4-FFF2-40B4-BE49-F238E27FC236}">
                <a16:creationId xmlns:a16="http://schemas.microsoft.com/office/drawing/2014/main" id="{ABA5AFE3-4840-4C4D-B4CD-591B69EA8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7800" y="731838"/>
            <a:ext cx="1479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b="1"/>
              <a:t>Exponential</a:t>
            </a:r>
          </a:p>
        </p:txBody>
      </p:sp>
      <p:sp>
        <p:nvSpPr>
          <p:cNvPr id="60428" name="Text Box 43">
            <a:extLst>
              <a:ext uri="{FF2B5EF4-FFF2-40B4-BE49-F238E27FC236}">
                <a16:creationId xmlns:a16="http://schemas.microsoft.com/office/drawing/2014/main" id="{CE1E66CA-0859-024F-9705-CF78ED47F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2050" y="457200"/>
            <a:ext cx="1517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b="1"/>
              <a:t>Scramble </a:t>
            </a:r>
          </a:p>
          <a:p>
            <a:pPr eaLnBrk="1" hangingPunct="1"/>
            <a:r>
              <a:rPr lang="en-US" altLang="en-US" sz="1800" b="1"/>
              <a:t>Competition</a:t>
            </a:r>
          </a:p>
        </p:txBody>
      </p:sp>
      <p:sp>
        <p:nvSpPr>
          <p:cNvPr id="60429" name="Freeform 46">
            <a:extLst>
              <a:ext uri="{FF2B5EF4-FFF2-40B4-BE49-F238E27FC236}">
                <a16:creationId xmlns:a16="http://schemas.microsoft.com/office/drawing/2014/main" id="{13F12AF9-9CAE-4449-BFF6-5D3602F38AF0}"/>
              </a:ext>
            </a:extLst>
          </p:cNvPr>
          <p:cNvSpPr>
            <a:spLocks/>
          </p:cNvSpPr>
          <p:nvPr/>
        </p:nvSpPr>
        <p:spPr bwMode="auto">
          <a:xfrm>
            <a:off x="2489200" y="1295400"/>
            <a:ext cx="1524000" cy="1600200"/>
          </a:xfrm>
          <a:custGeom>
            <a:avLst/>
            <a:gdLst>
              <a:gd name="T0" fmla="*/ 0 w 768"/>
              <a:gd name="T1" fmla="*/ 2147483647 h 1008"/>
              <a:gd name="T2" fmla="*/ 2147483647 w 768"/>
              <a:gd name="T3" fmla="*/ 2147483647 h 1008"/>
              <a:gd name="T4" fmla="*/ 2147483647 w 768"/>
              <a:gd name="T5" fmla="*/ 2147483647 h 1008"/>
              <a:gd name="T6" fmla="*/ 2147483647 w 768"/>
              <a:gd name="T7" fmla="*/ 2147483647 h 1008"/>
              <a:gd name="T8" fmla="*/ 2147483647 w 768"/>
              <a:gd name="T9" fmla="*/ 0 h 10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68"/>
              <a:gd name="T16" fmla="*/ 0 h 1008"/>
              <a:gd name="T17" fmla="*/ 768 w 768"/>
              <a:gd name="T18" fmla="*/ 1008 h 100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68" h="1008">
                <a:moveTo>
                  <a:pt x="0" y="1008"/>
                </a:moveTo>
                <a:cubicBezTo>
                  <a:pt x="76" y="984"/>
                  <a:pt x="152" y="960"/>
                  <a:pt x="240" y="912"/>
                </a:cubicBezTo>
                <a:cubicBezTo>
                  <a:pt x="328" y="864"/>
                  <a:pt x="448" y="808"/>
                  <a:pt x="528" y="720"/>
                </a:cubicBezTo>
                <a:cubicBezTo>
                  <a:pt x="608" y="632"/>
                  <a:pt x="680" y="504"/>
                  <a:pt x="720" y="384"/>
                </a:cubicBezTo>
                <a:cubicBezTo>
                  <a:pt x="760" y="264"/>
                  <a:pt x="760" y="64"/>
                  <a:pt x="768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0" name="Text Box 27">
            <a:extLst>
              <a:ext uri="{FF2B5EF4-FFF2-40B4-BE49-F238E27FC236}">
                <a16:creationId xmlns:a16="http://schemas.microsoft.com/office/drawing/2014/main" id="{B178A029-1D02-4B46-951E-2064257A4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1650" y="3962400"/>
            <a:ext cx="56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N</a:t>
            </a:r>
            <a:r>
              <a:rPr lang="en-US" altLang="en-US" sz="1800" baseline="-25000"/>
              <a:t>t+1</a:t>
            </a:r>
          </a:p>
        </p:txBody>
      </p:sp>
      <p:sp>
        <p:nvSpPr>
          <p:cNvPr id="60431" name="Text Box 26">
            <a:extLst>
              <a:ext uri="{FF2B5EF4-FFF2-40B4-BE49-F238E27FC236}">
                <a16:creationId xmlns:a16="http://schemas.microsoft.com/office/drawing/2014/main" id="{5950BF20-9C99-4440-AFB4-DB1745520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4405313"/>
            <a:ext cx="3921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N</a:t>
            </a:r>
            <a:r>
              <a:rPr lang="en-US" altLang="en-US" sz="1800" baseline="-25000"/>
              <a:t>t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8DB0ACB-CFF5-8047-96AC-39C0BF76252C}"/>
              </a:ext>
            </a:extLst>
          </p:cNvPr>
          <p:cNvCxnSpPr/>
          <p:nvPr/>
        </p:nvCxnSpPr>
        <p:spPr>
          <a:xfrm>
            <a:off x="1847850" y="4403725"/>
            <a:ext cx="411163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>
            <a:extLst>
              <a:ext uri="{FF2B5EF4-FFF2-40B4-BE49-F238E27FC236}">
                <a16:creationId xmlns:a16="http://schemas.microsoft.com/office/drawing/2014/main" id="{72F26E03-8A55-E94B-AAB4-E5920491B568}"/>
              </a:ext>
            </a:extLst>
          </p:cNvPr>
          <p:cNvSpPr/>
          <p:nvPr/>
        </p:nvSpPr>
        <p:spPr>
          <a:xfrm>
            <a:off x="4724400" y="1382713"/>
            <a:ext cx="1638300" cy="1512887"/>
          </a:xfrm>
          <a:custGeom>
            <a:avLst/>
            <a:gdLst>
              <a:gd name="connsiteX0" fmla="*/ 0 w 1638300"/>
              <a:gd name="connsiteY0" fmla="*/ 1500717 h 1513417"/>
              <a:gd name="connsiteX1" fmla="*/ 825500 w 1638300"/>
              <a:gd name="connsiteY1" fmla="*/ 2117 h 1513417"/>
              <a:gd name="connsiteX2" fmla="*/ 1638300 w 1638300"/>
              <a:gd name="connsiteY2" fmla="*/ 1513417 h 1513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8300" h="1513417">
                <a:moveTo>
                  <a:pt x="0" y="1500717"/>
                </a:moveTo>
                <a:cubicBezTo>
                  <a:pt x="276225" y="750358"/>
                  <a:pt x="552450" y="0"/>
                  <a:pt x="825500" y="2117"/>
                </a:cubicBezTo>
                <a:cubicBezTo>
                  <a:pt x="1098550" y="4234"/>
                  <a:pt x="1638300" y="1513417"/>
                  <a:pt x="1638300" y="1513417"/>
                </a:cubicBezTo>
              </a:path>
            </a:pathLst>
          </a:cu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0434" name="Line 48">
            <a:extLst>
              <a:ext uri="{FF2B5EF4-FFF2-40B4-BE49-F238E27FC236}">
                <a16:creationId xmlns:a16="http://schemas.microsoft.com/office/drawing/2014/main" id="{28399681-0379-A245-99F8-DC55ABB2D9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9200" y="5105400"/>
            <a:ext cx="1600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5" name="Line 48">
            <a:extLst>
              <a:ext uri="{FF2B5EF4-FFF2-40B4-BE49-F238E27FC236}">
                <a16:creationId xmlns:a16="http://schemas.microsoft.com/office/drawing/2014/main" id="{2142DEB1-B691-0245-BB1B-03A108690C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5200" y="5105400"/>
            <a:ext cx="1600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6" name="Text Box 34">
            <a:extLst>
              <a:ext uri="{FF2B5EF4-FFF2-40B4-BE49-F238E27FC236}">
                <a16:creationId xmlns:a16="http://schemas.microsoft.com/office/drawing/2014/main" id="{34DE98B1-AE80-9042-94BE-89448EFFC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4400" y="4964113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1</a:t>
            </a:r>
            <a:endParaRPr lang="en-US" altLang="en-US" sz="1800" baseline="-25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4">
            <a:extLst>
              <a:ext uri="{FF2B5EF4-FFF2-40B4-BE49-F238E27FC236}">
                <a16:creationId xmlns:a16="http://schemas.microsoft.com/office/drawing/2014/main" id="{240F46B7-639F-EE48-8BBE-53871B443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Contest competition</a:t>
            </a:r>
          </a:p>
        </p:txBody>
      </p:sp>
      <p:pic>
        <p:nvPicPr>
          <p:cNvPr id="62466" name="Picture 7" descr="figure9">
            <a:extLst>
              <a:ext uri="{FF2B5EF4-FFF2-40B4-BE49-F238E27FC236}">
                <a16:creationId xmlns:a16="http://schemas.microsoft.com/office/drawing/2014/main" id="{910C208E-D303-F343-BCCF-E266CE9F0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041400"/>
            <a:ext cx="7239000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4">
            <a:extLst>
              <a:ext uri="{FF2B5EF4-FFF2-40B4-BE49-F238E27FC236}">
                <a16:creationId xmlns:a16="http://schemas.microsoft.com/office/drawing/2014/main" id="{A1F43A6B-0F2C-624B-BA7D-B48A3840C4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Equation- contest competition</a:t>
            </a:r>
          </a:p>
        </p:txBody>
      </p:sp>
      <p:sp>
        <p:nvSpPr>
          <p:cNvPr id="64514" name="TextBox 1">
            <a:extLst>
              <a:ext uri="{FF2B5EF4-FFF2-40B4-BE49-F238E27FC236}">
                <a16:creationId xmlns:a16="http://schemas.microsoft.com/office/drawing/2014/main" id="{23F6D536-391F-554B-B09F-34EA41C1F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286000"/>
            <a:ext cx="14811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600"/>
              <a:t>N</a:t>
            </a:r>
            <a:r>
              <a:rPr lang="en-US" altLang="en-US" sz="3600" baseline="-25000"/>
              <a:t>t+1   </a:t>
            </a:r>
            <a:r>
              <a:rPr lang="en-US" altLang="en-US" sz="3600"/>
              <a:t>=</a:t>
            </a:r>
          </a:p>
        </p:txBody>
      </p:sp>
      <p:sp>
        <p:nvSpPr>
          <p:cNvPr id="64515" name="TextBox 2">
            <a:extLst>
              <a:ext uri="{FF2B5EF4-FFF2-40B4-BE49-F238E27FC236}">
                <a16:creationId xmlns:a16="http://schemas.microsoft.com/office/drawing/2014/main" id="{B47761D1-A0BD-B14B-821D-968FACDDC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752600"/>
            <a:ext cx="15446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600"/>
              <a:t>R K N</a:t>
            </a:r>
            <a:r>
              <a:rPr lang="en-US" altLang="en-US" sz="3600" baseline="-25000"/>
              <a:t>t</a:t>
            </a:r>
          </a:p>
        </p:txBody>
      </p:sp>
      <p:sp>
        <p:nvSpPr>
          <p:cNvPr id="64516" name="TextBox 3">
            <a:extLst>
              <a:ext uri="{FF2B5EF4-FFF2-40B4-BE49-F238E27FC236}">
                <a16:creationId xmlns:a16="http://schemas.microsoft.com/office/drawing/2014/main" id="{3721197F-7333-F34C-8718-D74B7A670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819400"/>
            <a:ext cx="26209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600"/>
              <a:t>K + (R-1) N</a:t>
            </a:r>
            <a:r>
              <a:rPr lang="en-US" altLang="en-US" sz="3600" baseline="-25000"/>
              <a:t>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FA41D7-4267-F848-BAC8-18911320944F}"/>
              </a:ext>
            </a:extLst>
          </p:cNvPr>
          <p:cNvCxnSpPr/>
          <p:nvPr/>
        </p:nvCxnSpPr>
        <p:spPr>
          <a:xfrm>
            <a:off x="3429000" y="2590800"/>
            <a:ext cx="3429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4">
            <a:extLst>
              <a:ext uri="{FF2B5EF4-FFF2-40B4-BE49-F238E27FC236}">
                <a16:creationId xmlns:a16="http://schemas.microsoft.com/office/drawing/2014/main" id="{D7B69D92-13C8-E244-BB76-D974B4AF9A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20955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 b="1">
                <a:ea typeface="ＭＳ Ｐゴシック" panose="020B0600070205080204" pitchFamily="34" charset="-128"/>
              </a:rPr>
              <a:t>Adding Environmental Variation</a:t>
            </a:r>
          </a:p>
        </p:txBody>
      </p:sp>
      <p:sp>
        <p:nvSpPr>
          <p:cNvPr id="66562" name="Text Box 5">
            <a:extLst>
              <a:ext uri="{FF2B5EF4-FFF2-40B4-BE49-F238E27FC236}">
                <a16:creationId xmlns:a16="http://schemas.microsoft.com/office/drawing/2014/main" id="{EAE66ECB-2FC8-E848-8CBD-818D0ADD7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857250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i="1">
                <a:solidFill>
                  <a:schemeClr val="accent2"/>
                </a:solidFill>
              </a:rPr>
              <a:t>R</a:t>
            </a:r>
            <a:r>
              <a:rPr lang="en-US" altLang="en-US" b="1">
                <a:solidFill>
                  <a:schemeClr val="accent2"/>
                </a:solidFill>
              </a:rPr>
              <a:t> and </a:t>
            </a:r>
            <a:r>
              <a:rPr lang="en-US" altLang="en-US" b="1" i="1">
                <a:solidFill>
                  <a:schemeClr val="accent2"/>
                </a:solidFill>
              </a:rPr>
              <a:t>K</a:t>
            </a:r>
            <a:r>
              <a:rPr lang="en-US" altLang="en-US" b="1">
                <a:solidFill>
                  <a:schemeClr val="accent2"/>
                </a:solidFill>
              </a:rPr>
              <a:t> may be affected by environmental variation.</a:t>
            </a:r>
          </a:p>
        </p:txBody>
      </p:sp>
      <p:sp>
        <p:nvSpPr>
          <p:cNvPr id="66563" name="Text Box 6">
            <a:extLst>
              <a:ext uri="{FF2B5EF4-FFF2-40B4-BE49-F238E27FC236}">
                <a16:creationId xmlns:a16="http://schemas.microsoft.com/office/drawing/2014/main" id="{EB52CCD4-8102-634F-9D06-4326E107B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619250"/>
            <a:ext cx="8686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Consider variation in </a:t>
            </a:r>
            <a:r>
              <a:rPr lang="en-US" altLang="en-US" b="1" i="1">
                <a:solidFill>
                  <a:schemeClr val="accent2"/>
                </a:solidFill>
              </a:rPr>
              <a:t>R.  </a:t>
            </a:r>
            <a:r>
              <a:rPr lang="en-US" altLang="en-US" b="1">
                <a:solidFill>
                  <a:schemeClr val="accent2"/>
                </a:solidFill>
              </a:rPr>
              <a:t>Change in population size from year to year</a:t>
            </a:r>
            <a:r>
              <a:rPr lang="en-US" altLang="en-US" b="1" i="1">
                <a:solidFill>
                  <a:schemeClr val="accent2"/>
                </a:solidFill>
              </a:rPr>
              <a:t> </a:t>
            </a:r>
            <a:r>
              <a:rPr lang="en-US" altLang="en-US" b="1">
                <a:solidFill>
                  <a:schemeClr val="accent2"/>
                </a:solidFill>
              </a:rPr>
              <a:t>depends on both population density and environmental variation.</a:t>
            </a:r>
          </a:p>
        </p:txBody>
      </p:sp>
      <p:pic>
        <p:nvPicPr>
          <p:cNvPr id="66564" name="Picture 8" descr="figure12">
            <a:extLst>
              <a:ext uri="{FF2B5EF4-FFF2-40B4-BE49-F238E27FC236}">
                <a16:creationId xmlns:a16="http://schemas.microsoft.com/office/drawing/2014/main" id="{4264A911-B58F-8B4A-BA41-63B526A37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9"/>
          <a:stretch>
            <a:fillRect/>
          </a:stretch>
        </p:blipFill>
        <p:spPr bwMode="auto">
          <a:xfrm>
            <a:off x="2286000" y="2798763"/>
            <a:ext cx="48768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5" name="Text Box 27">
            <a:extLst>
              <a:ext uri="{FF2B5EF4-FFF2-40B4-BE49-F238E27FC236}">
                <a16:creationId xmlns:a16="http://schemas.microsoft.com/office/drawing/2014/main" id="{EEA0AE3C-6890-7E45-8C2C-EBA955678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052888"/>
            <a:ext cx="577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b="1"/>
              <a:t>N</a:t>
            </a:r>
            <a:r>
              <a:rPr lang="en-US" altLang="en-US" sz="1800" b="1" baseline="-25000"/>
              <a:t>t+1</a:t>
            </a:r>
          </a:p>
        </p:txBody>
      </p:sp>
      <p:sp>
        <p:nvSpPr>
          <p:cNvPr id="66566" name="Text Box 26">
            <a:extLst>
              <a:ext uri="{FF2B5EF4-FFF2-40B4-BE49-F238E27FC236}">
                <a16:creationId xmlns:a16="http://schemas.microsoft.com/office/drawing/2014/main" id="{E9230805-FDB2-5941-9389-78A8D1885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495800"/>
            <a:ext cx="403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b="1"/>
              <a:t>N</a:t>
            </a:r>
            <a:r>
              <a:rPr lang="en-US" altLang="en-US" sz="1800" b="1" baseline="-25000"/>
              <a:t>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4FF70D-89D2-7647-B5B5-28733934FE54}"/>
              </a:ext>
            </a:extLst>
          </p:cNvPr>
          <p:cNvCxnSpPr/>
          <p:nvPr/>
        </p:nvCxnSpPr>
        <p:spPr>
          <a:xfrm>
            <a:off x="1676400" y="4494213"/>
            <a:ext cx="411163" cy="158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349</Words>
  <Application>Microsoft Macintosh PowerPoint</Application>
  <PresentationFormat>On-screen Show (4:3)</PresentationFormat>
  <Paragraphs>121</Paragraphs>
  <Slides>25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ＭＳ Ｐゴシック</vt:lpstr>
      <vt:lpstr>Default Design</vt:lpstr>
      <vt:lpstr>Microsoft Equation 3.0</vt:lpstr>
      <vt:lpstr>PowerPoint Presentation</vt:lpstr>
      <vt:lpstr>PowerPoint Presentation</vt:lpstr>
      <vt:lpstr>Effects of Crowding</vt:lpstr>
      <vt:lpstr>Forestry: Thinning</vt:lpstr>
      <vt:lpstr>Birth rates decrease with density</vt:lpstr>
      <vt:lpstr>Density dependence</vt:lpstr>
      <vt:lpstr>Types of density dependence</vt:lpstr>
      <vt:lpstr>Scramble Competition</vt:lpstr>
      <vt:lpstr>Modeling Density Dependence</vt:lpstr>
      <vt:lpstr>Types of equilibrium</vt:lpstr>
      <vt:lpstr>Scramble Competition</vt:lpstr>
      <vt:lpstr>Scramble Competition</vt:lpstr>
      <vt:lpstr>Discrete logistic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Bifurcation diagram</vt:lpstr>
      <vt:lpstr>PowerPoint Presentation</vt:lpstr>
      <vt:lpstr>Contest competition</vt:lpstr>
      <vt:lpstr>Equation- contest competition</vt:lpstr>
      <vt:lpstr>Adding Environmental Variation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Tiffany Knight</dc:creator>
  <cp:lastModifiedBy>Tiffany Knight</cp:lastModifiedBy>
  <cp:revision>5</cp:revision>
  <cp:lastPrinted>2005-09-07T15:07:07Z</cp:lastPrinted>
  <dcterms:created xsi:type="dcterms:W3CDTF">2016-11-01T05:38:30Z</dcterms:created>
  <dcterms:modified xsi:type="dcterms:W3CDTF">2019-11-05T08:04:06Z</dcterms:modified>
</cp:coreProperties>
</file>